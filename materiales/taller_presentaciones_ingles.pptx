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94" r:id="rId3"/>
    <p:sldId id="287" r:id="rId4"/>
    <p:sldId id="258" r:id="rId5"/>
    <p:sldId id="257" r:id="rId6"/>
    <p:sldId id="259" r:id="rId7"/>
    <p:sldId id="285" r:id="rId8"/>
    <p:sldId id="286" r:id="rId9"/>
    <p:sldId id="289" r:id="rId10"/>
    <p:sldId id="260" r:id="rId11"/>
    <p:sldId id="290" r:id="rId12"/>
    <p:sldId id="261" r:id="rId13"/>
    <p:sldId id="272" r:id="rId14"/>
    <p:sldId id="264" r:id="rId15"/>
    <p:sldId id="265" r:id="rId16"/>
    <p:sldId id="284" r:id="rId17"/>
    <p:sldId id="266" r:id="rId18"/>
    <p:sldId id="291" r:id="rId19"/>
    <p:sldId id="263" r:id="rId20"/>
    <p:sldId id="275" r:id="rId21"/>
    <p:sldId id="271" r:id="rId22"/>
    <p:sldId id="276" r:id="rId23"/>
    <p:sldId id="277" r:id="rId24"/>
    <p:sldId id="273" r:id="rId25"/>
    <p:sldId id="293" r:id="rId26"/>
    <p:sldId id="262" r:id="rId27"/>
    <p:sldId id="292" r:id="rId28"/>
    <p:sldId id="267" r:id="rId29"/>
    <p:sldId id="268" r:id="rId30"/>
    <p:sldId id="279" r:id="rId31"/>
    <p:sldId id="280" r:id="rId32"/>
    <p:sldId id="281" r:id="rId33"/>
    <p:sldId id="282" r:id="rId34"/>
    <p:sldId id="283" r:id="rId35"/>
    <p:sldId id="274" r:id="rId36"/>
    <p:sldId id="295" r:id="rId37"/>
    <p:sldId id="278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78019"/>
  </p:normalViewPr>
  <p:slideViewPr>
    <p:cSldViewPr snapToGrid="0" snapToObjects="1">
      <p:cViewPr varScale="1">
        <p:scale>
          <a:sx n="85" d="100"/>
          <a:sy n="85" d="100"/>
        </p:scale>
        <p:origin x="24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19332-5665-DB45-A992-0BC3B541C1CA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BA3D0-0200-4D48-9BD9-62F81615BA8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187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setting, physical environment,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BA3D0-0200-4D48-9BD9-62F81615BA8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99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how would they differ in terms of audience and what the audience want to see?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BA3D0-0200-4D48-9BD9-62F81615BA8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0570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work in progress</a:t>
            </a:r>
          </a:p>
          <a:p>
            <a:r>
              <a:rPr lang="en-GB" dirty="0"/>
              <a:t>before the project has begun </a:t>
            </a:r>
          </a:p>
          <a:p>
            <a:r>
              <a:rPr lang="en-GB" dirty="0"/>
              <a:t>preliminary findings</a:t>
            </a:r>
          </a:p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BA3D0-0200-4D48-9BD9-62F81615BA8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5331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be brave</a:t>
            </a:r>
          </a:p>
          <a:p>
            <a:r>
              <a:rPr lang="en-GB" dirty="0"/>
              <a:t>less </a:t>
            </a:r>
            <a:r>
              <a:rPr lang="en-GB" dirty="0" err="1"/>
              <a:t>liekly</a:t>
            </a:r>
            <a:r>
              <a:rPr lang="en-GB" dirty="0"/>
              <a:t> to rely on reading from a slide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BA3D0-0200-4D48-9BD9-62F81615BA81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319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forwards and backwards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BA3D0-0200-4D48-9BD9-62F81615BA81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0033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what are your thoughts or fears at this time?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BA3D0-0200-4D48-9BD9-62F81615BA81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58092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lets deal with these one by one</a:t>
            </a:r>
          </a:p>
          <a:p>
            <a:r>
              <a:rPr lang="en-GB" dirty="0"/>
              <a:t>This actually turns it around and implies that they may not have done a clear job in asking it in the first place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Repeating gives you more time to think</a:t>
            </a:r>
          </a:p>
          <a:p>
            <a:endParaRPr lang="en-GB" dirty="0"/>
          </a:p>
          <a:p>
            <a:r>
              <a:rPr lang="en-GB" dirty="0"/>
              <a:t> - shows you are taking them seriously and want to answer them but also that you care about saying the right thing</a:t>
            </a:r>
          </a:p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BA3D0-0200-4D48-9BD9-62F81615BA81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84334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Use it</a:t>
            </a:r>
          </a:p>
          <a:p>
            <a:r>
              <a:rPr lang="en-GB" dirty="0"/>
              <a:t> as a bridge to what you do know.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>
                <a:latin typeface="Google Sans"/>
              </a:rPr>
              <a:t>Show </a:t>
            </a:r>
            <a:r>
              <a:rPr lang="es-ES" dirty="0" err="1">
                <a:latin typeface="Google Sans"/>
              </a:rPr>
              <a:t>confidence</a:t>
            </a:r>
            <a:r>
              <a:rPr lang="es-ES" dirty="0">
                <a:latin typeface="Google Sans"/>
              </a:rPr>
              <a:t> in </a:t>
            </a:r>
            <a:r>
              <a:rPr lang="es-ES" dirty="0" err="1">
                <a:latin typeface="Google Sans"/>
              </a:rPr>
              <a:t>not</a:t>
            </a:r>
            <a:r>
              <a:rPr lang="es-ES" dirty="0">
                <a:latin typeface="Google Sans"/>
              </a:rPr>
              <a:t> </a:t>
            </a:r>
            <a:r>
              <a:rPr lang="es-ES" dirty="0" err="1">
                <a:latin typeface="Google Sans"/>
              </a:rPr>
              <a:t>knowing</a:t>
            </a:r>
            <a:endParaRPr lang="es-ES" b="0" i="0" dirty="0">
              <a:effectLst/>
              <a:latin typeface="Google Sans"/>
            </a:endParaRPr>
          </a:p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BA3D0-0200-4D48-9BD9-62F81615BA81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6886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patterson@ugr.e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732" y="1031270"/>
            <a:ext cx="7955280" cy="1435100"/>
          </a:xfrm>
        </p:spPr>
        <p:txBody>
          <a:bodyPr>
            <a:normAutofit fontScale="90000"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br>
              <a:rPr lang="es-ES" sz="3600" dirty="0"/>
            </a:br>
            <a:r>
              <a:rPr lang="es-ES" sz="4000" dirty="0" err="1">
                <a:latin typeface="+mn-lt"/>
              </a:rPr>
              <a:t>Tips</a:t>
            </a:r>
            <a:r>
              <a:rPr lang="es-ES" sz="4000" dirty="0">
                <a:latin typeface="+mn-lt"/>
              </a:rPr>
              <a:t> </a:t>
            </a:r>
            <a:r>
              <a:rPr lang="es-ES" sz="4000" dirty="0" err="1">
                <a:latin typeface="+mn-lt"/>
              </a:rPr>
              <a:t>for</a:t>
            </a:r>
            <a:r>
              <a:rPr lang="es-ES" sz="4000" dirty="0">
                <a:latin typeface="+mn-lt"/>
              </a:rPr>
              <a:t> </a:t>
            </a:r>
            <a:r>
              <a:rPr lang="es-ES" sz="4000" dirty="0" err="1">
                <a:latin typeface="+mn-lt"/>
              </a:rPr>
              <a:t>creating</a:t>
            </a:r>
            <a:r>
              <a:rPr lang="es-ES" sz="4000" dirty="0">
                <a:latin typeface="+mn-lt"/>
              </a:rPr>
              <a:t> a </a:t>
            </a:r>
            <a:r>
              <a:rPr lang="es-ES" sz="4000" dirty="0" err="1">
                <a:latin typeface="+mn-lt"/>
              </a:rPr>
              <a:t>successful</a:t>
            </a:r>
            <a:r>
              <a:rPr lang="es-ES" sz="4000" dirty="0">
                <a:latin typeface="+mn-lt"/>
              </a:rPr>
              <a:t> </a:t>
            </a:r>
            <a:r>
              <a:rPr lang="es-ES" sz="4000" dirty="0" err="1">
                <a:latin typeface="+mn-lt"/>
              </a:rPr>
              <a:t>presentation</a:t>
            </a:r>
            <a:r>
              <a:rPr lang="es-ES" sz="4000" dirty="0">
                <a:latin typeface="+mn-lt"/>
              </a:rPr>
              <a:t> in English</a:t>
            </a:r>
            <a:br>
              <a:rPr lang="es-ES" dirty="0"/>
            </a:br>
            <a:endParaRPr lang="es-E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572" y="5215128"/>
            <a:ext cx="8229600" cy="1642872"/>
          </a:xfrm>
        </p:spPr>
        <p:txBody>
          <a:bodyPr>
            <a:normAutofit/>
          </a:bodyPr>
          <a:lstStyle/>
          <a:p>
            <a:pPr marL="0" indent="0" algn="ctr">
              <a:buNone/>
              <a:defRPr sz="2400"/>
            </a:pPr>
            <a:r>
              <a:rPr sz="2000" dirty="0"/>
              <a:t>Dr Katie Patterson</a:t>
            </a:r>
            <a:r>
              <a:rPr lang="es-ES" sz="2000" dirty="0"/>
              <a:t> </a:t>
            </a:r>
          </a:p>
          <a:p>
            <a:pPr marL="0" indent="0" algn="ctr">
              <a:buNone/>
              <a:defRPr sz="2400"/>
            </a:pPr>
            <a:r>
              <a:rPr lang="es-ES" sz="2000" dirty="0"/>
              <a:t>Departamento de Filologías Inglesa y Alemana</a:t>
            </a:r>
            <a:endParaRPr sz="2000" dirty="0"/>
          </a:p>
          <a:p>
            <a:pPr marL="0" indent="0" algn="ctr">
              <a:buNone/>
              <a:defRPr sz="2400"/>
            </a:pPr>
            <a:r>
              <a:rPr sz="2000" dirty="0"/>
              <a:t>University of Granada</a:t>
            </a:r>
            <a:endParaRPr lang="es-ES" sz="2000" dirty="0"/>
          </a:p>
          <a:p>
            <a:pPr marL="0" indent="0" algn="ctr">
              <a:buNone/>
              <a:defRPr sz="2400"/>
            </a:pPr>
            <a:r>
              <a:rPr lang="es-ES" sz="2000" dirty="0">
                <a:hlinkClick r:id="rId2"/>
              </a:rPr>
              <a:t>kpatterson@ugr.es</a:t>
            </a:r>
            <a:endParaRPr lang="es-ES" sz="2000" dirty="0"/>
          </a:p>
          <a:p>
            <a:pPr marL="0" indent="0" algn="ctr">
              <a:buNone/>
              <a:defRPr sz="2400"/>
            </a:pPr>
            <a:endParaRPr sz="20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0D087C9-4E9F-C67D-058B-1CD9D1E9B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3016" y="2477830"/>
            <a:ext cx="1806712" cy="247586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988CDD0-E9F6-AB94-6B69-F5C52AFD7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0666" y="-5050"/>
            <a:ext cx="2811411" cy="70597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F011682-C6B7-6F35-F8C9-86B2A66BA6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2" y="0"/>
            <a:ext cx="952500" cy="1041400"/>
          </a:xfrm>
          <a:prstGeom prst="rect">
            <a:avLst/>
          </a:prstGeom>
        </p:spPr>
      </p:pic>
      <p:pic>
        <p:nvPicPr>
          <p:cNvPr id="1026" name="Picture 2" descr="logo ugr grande - ECALFOR">
            <a:extLst>
              <a:ext uri="{FF2B5EF4-FFF2-40B4-BE49-F238E27FC236}">
                <a16:creationId xmlns:a16="http://schemas.microsoft.com/office/drawing/2014/main" id="{9EAF1DBB-B40C-4059-0268-5B6D15468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8436" y="0"/>
            <a:ext cx="1152712" cy="1152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logo ugr grande - ECALFOR">
            <a:extLst>
              <a:ext uri="{FF2B5EF4-FFF2-40B4-BE49-F238E27FC236}">
                <a16:creationId xmlns:a16="http://schemas.microsoft.com/office/drawing/2014/main" id="{9D25EBDC-FB02-81F6-80B3-E503463FC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8806" y="0"/>
            <a:ext cx="1152712" cy="1152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D8A690-AB79-CF46-2C83-B0CDDC9EF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863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A </a:t>
            </a:r>
            <a:r>
              <a:rPr lang="es-ES" sz="4000" dirty="0" err="1"/>
              <a:t>clear</a:t>
            </a:r>
            <a:r>
              <a:rPr lang="es-ES" sz="4000" dirty="0"/>
              <a:t> </a:t>
            </a:r>
            <a:r>
              <a:rPr lang="es-ES" sz="4000" dirty="0" err="1"/>
              <a:t>research</a:t>
            </a:r>
            <a:r>
              <a:rPr lang="es-ES" sz="4000" dirty="0"/>
              <a:t> </a:t>
            </a:r>
            <a:r>
              <a:rPr lang="es-ES" sz="4000" dirty="0" err="1"/>
              <a:t>presentation</a:t>
            </a:r>
            <a:r>
              <a:rPr lang="es-ES" sz="4000" dirty="0"/>
              <a:t> </a:t>
            </a:r>
            <a:r>
              <a:rPr lang="es-ES" sz="4000" dirty="0" err="1"/>
              <a:t>usually</a:t>
            </a:r>
            <a:r>
              <a:rPr lang="es-ES" sz="4000" dirty="0"/>
              <a:t> </a:t>
            </a:r>
            <a:r>
              <a:rPr lang="es-ES" sz="4000" dirty="0" err="1"/>
              <a:t>answers</a:t>
            </a:r>
            <a:r>
              <a:rPr lang="es-ES" sz="4000" dirty="0"/>
              <a:t> </a:t>
            </a:r>
            <a:r>
              <a:rPr lang="es-ES" sz="4000" dirty="0" err="1"/>
              <a:t>five</a:t>
            </a:r>
            <a:r>
              <a:rPr lang="es-ES" sz="4000" dirty="0"/>
              <a:t> </a:t>
            </a:r>
            <a:r>
              <a:rPr lang="es-ES" sz="4000" dirty="0" err="1"/>
              <a:t>questions</a:t>
            </a:r>
            <a:r>
              <a:rPr lang="es-ES" sz="4000" dirty="0"/>
              <a:t>:</a:t>
            </a:r>
            <a:br>
              <a:rPr lang="es-ES" dirty="0"/>
            </a:br>
            <a:endParaRPr lang="en-GB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125C0E-D546-0977-A043-2B277E88C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49305"/>
            <a:ext cx="8229600" cy="4525963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s-ES" sz="2800" dirty="0">
                <a:solidFill>
                  <a:srgbClr val="C00000"/>
                </a:solidFill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s-ES" sz="2800" dirty="0">
                <a:solidFill>
                  <a:srgbClr val="C00000"/>
                </a:solidFill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s-ES" sz="2800" dirty="0">
                <a:solidFill>
                  <a:srgbClr val="C00000"/>
                </a:solidFill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s-ES" sz="2800" dirty="0">
                <a:solidFill>
                  <a:srgbClr val="C00000"/>
                </a:solidFill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s-ES" sz="2800" dirty="0">
                <a:solidFill>
                  <a:srgbClr val="C00000"/>
                </a:solidFill>
              </a:rPr>
              <a:t> </a:t>
            </a:r>
            <a:br>
              <a:rPr lang="es-ES" sz="2800" dirty="0"/>
            </a:br>
            <a:endParaRPr lang="es-ES" sz="2800" dirty="0"/>
          </a:p>
          <a:p>
            <a:pPr marL="0" indent="0">
              <a:buNone/>
            </a:pPr>
            <a:r>
              <a:rPr lang="es-ES" sz="2800" dirty="0" err="1"/>
              <a:t>If</a:t>
            </a:r>
            <a:r>
              <a:rPr lang="es-ES" sz="2800" dirty="0"/>
              <a:t> </a:t>
            </a:r>
            <a:r>
              <a:rPr lang="es-ES" sz="2800" dirty="0" err="1"/>
              <a:t>the</a:t>
            </a:r>
            <a:r>
              <a:rPr lang="es-ES" sz="2800" dirty="0"/>
              <a:t> </a:t>
            </a:r>
            <a:r>
              <a:rPr lang="es-ES" sz="2800" dirty="0" err="1"/>
              <a:t>audience</a:t>
            </a:r>
            <a:r>
              <a:rPr lang="es-ES" sz="2800" dirty="0"/>
              <a:t> </a:t>
            </a:r>
            <a:r>
              <a:rPr lang="es-ES" sz="2800" dirty="0" err="1"/>
              <a:t>understands</a:t>
            </a:r>
            <a:r>
              <a:rPr lang="es-ES" sz="2800" dirty="0"/>
              <a:t> </a:t>
            </a:r>
            <a:r>
              <a:rPr lang="es-ES" sz="2800" dirty="0" err="1"/>
              <a:t>these</a:t>
            </a:r>
            <a:r>
              <a:rPr lang="es-ES" sz="2800" dirty="0"/>
              <a:t> </a:t>
            </a:r>
            <a:r>
              <a:rPr lang="es-ES" sz="2800" dirty="0" err="1"/>
              <a:t>five</a:t>
            </a:r>
            <a:r>
              <a:rPr lang="es-ES" sz="2800" dirty="0"/>
              <a:t> </a:t>
            </a:r>
            <a:r>
              <a:rPr lang="es-ES" sz="2800" dirty="0" err="1"/>
              <a:t>points</a:t>
            </a:r>
            <a:r>
              <a:rPr lang="es-ES" sz="2800" dirty="0"/>
              <a:t>,</a:t>
            </a:r>
          </a:p>
          <a:p>
            <a:pPr marL="0" indent="0">
              <a:buNone/>
            </a:pPr>
            <a:r>
              <a:rPr lang="es-ES" sz="2800" dirty="0" err="1"/>
              <a:t>your</a:t>
            </a:r>
            <a:r>
              <a:rPr lang="es-ES" sz="2800" dirty="0"/>
              <a:t> </a:t>
            </a:r>
            <a:r>
              <a:rPr lang="es-ES" sz="2800" dirty="0" err="1"/>
              <a:t>presentation</a:t>
            </a:r>
            <a:r>
              <a:rPr lang="es-ES" sz="2800" dirty="0"/>
              <a:t> has </a:t>
            </a:r>
            <a:r>
              <a:rPr lang="es-ES" sz="2800" dirty="0" err="1"/>
              <a:t>succeeded</a:t>
            </a:r>
            <a:r>
              <a:rPr lang="es-ES" sz="2800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9489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43431-A965-CB49-0C32-A8C387786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504222-CF81-06E5-5370-E4B412CBF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Why presentations matter</a:t>
            </a:r>
          </a:p>
          <a:p>
            <a:r>
              <a:rPr lang="en-GB" dirty="0"/>
              <a:t>Audience</a:t>
            </a:r>
          </a:p>
          <a:p>
            <a:r>
              <a:rPr lang="en-GB" dirty="0"/>
              <a:t>3 elements of a good presentation</a:t>
            </a:r>
          </a:p>
          <a:p>
            <a:pPr lvl="1"/>
            <a:r>
              <a:rPr lang="en-GB" dirty="0">
                <a:solidFill>
                  <a:srgbClr val="C00000"/>
                </a:solidFill>
              </a:rPr>
              <a:t>Structure and design</a:t>
            </a:r>
          </a:p>
          <a:p>
            <a:pPr lvl="1"/>
            <a:r>
              <a:rPr lang="en-GB" dirty="0">
                <a:solidFill>
                  <a:srgbClr val="C00000"/>
                </a:solidFill>
              </a:rPr>
              <a:t>Delivery</a:t>
            </a:r>
          </a:p>
          <a:p>
            <a:pPr lvl="1"/>
            <a:r>
              <a:rPr lang="en-GB" dirty="0">
                <a:solidFill>
                  <a:srgbClr val="C00000"/>
                </a:solidFill>
              </a:rPr>
              <a:t>Language</a:t>
            </a:r>
          </a:p>
          <a:p>
            <a:r>
              <a:rPr lang="en-GB" dirty="0"/>
              <a:t>Mistakes</a:t>
            </a:r>
          </a:p>
          <a:p>
            <a:r>
              <a:rPr lang="en-GB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2344179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rPr dirty="0"/>
              <a:t>Quick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  <a:defRPr sz="2400"/>
            </a:pPr>
            <a:r>
              <a:rPr sz="2800" b="1" dirty="0">
                <a:solidFill>
                  <a:srgbClr val="C00000"/>
                </a:solidFill>
              </a:rPr>
              <a:t>Think about the last academic presentation you attended</a:t>
            </a:r>
            <a:r>
              <a:rPr lang="es-ES" sz="2800" b="1" dirty="0">
                <a:solidFill>
                  <a:srgbClr val="C00000"/>
                </a:solidFill>
              </a:rPr>
              <a:t>...</a:t>
            </a:r>
          </a:p>
          <a:p>
            <a:pPr marL="0" indent="0">
              <a:buNone/>
              <a:defRPr sz="2400"/>
            </a:pPr>
            <a:endParaRPr sz="2800" dirty="0"/>
          </a:p>
          <a:p>
            <a:pPr>
              <a:defRPr sz="2400"/>
            </a:pPr>
            <a:r>
              <a:rPr sz="2800" dirty="0"/>
              <a:t>What made it good?</a:t>
            </a:r>
          </a:p>
          <a:p>
            <a:pPr>
              <a:defRPr sz="2400"/>
            </a:pPr>
            <a:r>
              <a:rPr sz="2800" dirty="0"/>
              <a:t>What made it difficult to follow?</a:t>
            </a:r>
          </a:p>
          <a:p>
            <a:pPr>
              <a:defRPr sz="2400"/>
            </a:pPr>
            <a:r>
              <a:rPr lang="es-ES" sz="2800" dirty="0" err="1"/>
              <a:t>Think</a:t>
            </a:r>
            <a:r>
              <a:rPr lang="es-ES" sz="2800" dirty="0"/>
              <a:t> </a:t>
            </a:r>
            <a:r>
              <a:rPr lang="es-ES" sz="2800" dirty="0" err="1"/>
              <a:t>about</a:t>
            </a:r>
            <a:r>
              <a:rPr lang="es-ES" sz="2800" dirty="0"/>
              <a:t> s</a:t>
            </a:r>
            <a:r>
              <a:rPr sz="2800" dirty="0" err="1"/>
              <a:t>tructure</a:t>
            </a:r>
            <a:r>
              <a:rPr sz="2800" dirty="0"/>
              <a:t>, slides, delivery</a:t>
            </a:r>
            <a:r>
              <a:rPr lang="es-ES" sz="2800" dirty="0"/>
              <a:t>...</a:t>
            </a:r>
            <a:endParaRPr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Why presentations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257800"/>
          </a:xfrm>
        </p:spPr>
        <p:txBody>
          <a:bodyPr>
            <a:normAutofit lnSpcReduction="10000"/>
          </a:bodyPr>
          <a:lstStyle/>
          <a:p>
            <a:pPr>
              <a:defRPr sz="2400"/>
            </a:pPr>
            <a:r>
              <a:rPr sz="2800" dirty="0"/>
              <a:t>Research is communicated </a:t>
            </a:r>
            <a:r>
              <a:rPr lang="es-ES" sz="2800" dirty="0" err="1"/>
              <a:t>orally</a:t>
            </a:r>
            <a:r>
              <a:rPr lang="es-ES" sz="2800" dirty="0"/>
              <a:t> </a:t>
            </a:r>
            <a:r>
              <a:rPr lang="es-ES" sz="2800" dirty="0" err="1"/>
              <a:t>for</a:t>
            </a:r>
            <a:r>
              <a:rPr lang="es-ES" sz="2800" dirty="0"/>
              <a:t> a </a:t>
            </a:r>
            <a:r>
              <a:rPr lang="es-ES" sz="2800" dirty="0" err="1"/>
              <a:t>number</a:t>
            </a:r>
            <a:r>
              <a:rPr lang="es-ES" sz="2800" dirty="0"/>
              <a:t> </a:t>
            </a:r>
            <a:r>
              <a:rPr lang="es-ES" sz="2800" dirty="0" err="1"/>
              <a:t>of</a:t>
            </a:r>
            <a:r>
              <a:rPr lang="es-ES" sz="2800" dirty="0"/>
              <a:t> </a:t>
            </a:r>
            <a:r>
              <a:rPr lang="es-ES" sz="2800" dirty="0" err="1"/>
              <a:t>reasons</a:t>
            </a:r>
            <a:r>
              <a:rPr lang="es-ES" sz="2800" dirty="0"/>
              <a:t>:</a:t>
            </a:r>
          </a:p>
          <a:p>
            <a:pPr lvl="1">
              <a:defRPr sz="2400"/>
            </a:pPr>
            <a:r>
              <a:rPr sz="2400" dirty="0"/>
              <a:t>through conference talks, </a:t>
            </a:r>
            <a:endParaRPr lang="es-ES" sz="2400" dirty="0"/>
          </a:p>
          <a:p>
            <a:pPr lvl="1">
              <a:defRPr sz="2400"/>
            </a:pPr>
            <a:r>
              <a:rPr sz="2400" dirty="0"/>
              <a:t>seminars, </a:t>
            </a:r>
            <a:endParaRPr lang="es-ES" sz="2400" dirty="0"/>
          </a:p>
          <a:p>
            <a:pPr lvl="1">
              <a:defRPr sz="2400"/>
            </a:pPr>
            <a:r>
              <a:rPr sz="2400" dirty="0"/>
              <a:t>thesis </a:t>
            </a:r>
            <a:r>
              <a:rPr sz="2400" dirty="0" err="1"/>
              <a:t>defences</a:t>
            </a:r>
            <a:r>
              <a:rPr sz="2400" dirty="0"/>
              <a:t> </a:t>
            </a:r>
            <a:endParaRPr lang="es-ES" sz="2400" dirty="0"/>
          </a:p>
          <a:p>
            <a:pPr lvl="1">
              <a:defRPr sz="2400"/>
            </a:pPr>
            <a:r>
              <a:rPr sz="2400" dirty="0"/>
              <a:t>job talks</a:t>
            </a:r>
            <a:endParaRPr lang="es-ES" sz="2400" dirty="0"/>
          </a:p>
          <a:p>
            <a:pPr marL="457200" lvl="1" indent="0">
              <a:buNone/>
              <a:defRPr sz="2400"/>
            </a:pPr>
            <a:endParaRPr sz="2400" dirty="0"/>
          </a:p>
          <a:p>
            <a:pPr>
              <a:defRPr sz="2400"/>
            </a:pPr>
            <a:r>
              <a:rPr sz="2800" dirty="0"/>
              <a:t>A clear presentation helps audiences understand and remember your research</a:t>
            </a:r>
            <a:endParaRPr lang="es-ES" sz="2800" dirty="0"/>
          </a:p>
          <a:p>
            <a:pPr marL="0" indent="0">
              <a:buNone/>
              <a:defRPr sz="2400"/>
            </a:pPr>
            <a:endParaRPr sz="2800" dirty="0"/>
          </a:p>
          <a:p>
            <a:pPr>
              <a:defRPr sz="2400"/>
            </a:pPr>
            <a:r>
              <a:rPr sz="2800" dirty="0"/>
              <a:t>Strong presentations can influence how research is received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Three elements of a good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87377" y="1750102"/>
            <a:ext cx="9331377" cy="3706318"/>
          </a:xfrm>
        </p:spPr>
        <p:txBody>
          <a:bodyPr>
            <a:normAutofit/>
          </a:bodyPr>
          <a:lstStyle/>
          <a:p>
            <a:pPr algn="ctr">
              <a:defRPr sz="2400"/>
            </a:pPr>
            <a:r>
              <a:rPr sz="2800" dirty="0">
                <a:solidFill>
                  <a:schemeClr val="accent2">
                    <a:lumMod val="50000"/>
                  </a:schemeClr>
                </a:solidFill>
              </a:rPr>
              <a:t>Structure</a:t>
            </a:r>
          </a:p>
          <a:p>
            <a:pPr algn="ctr">
              <a:defRPr sz="2400"/>
            </a:pPr>
            <a:r>
              <a:rPr sz="2800" dirty="0">
                <a:solidFill>
                  <a:schemeClr val="accent2">
                    <a:lumMod val="50000"/>
                  </a:schemeClr>
                </a:solidFill>
              </a:rPr>
              <a:t>Language</a:t>
            </a:r>
          </a:p>
          <a:p>
            <a:pPr algn="ctr">
              <a:defRPr sz="2400"/>
            </a:pPr>
            <a:r>
              <a:rPr sz="2800" dirty="0">
                <a:solidFill>
                  <a:schemeClr val="accent2">
                    <a:lumMod val="50000"/>
                  </a:schemeClr>
                </a:solidFill>
              </a:rPr>
              <a:t>Delivery</a:t>
            </a:r>
            <a:endParaRPr lang="es-ES" sz="2800" dirty="0">
              <a:solidFill>
                <a:schemeClr val="accent2">
                  <a:lumMod val="50000"/>
                </a:schemeClr>
              </a:solidFill>
            </a:endParaRPr>
          </a:p>
          <a:p>
            <a:pPr algn="ctr">
              <a:defRPr sz="2400"/>
            </a:pPr>
            <a:endParaRPr sz="2800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 algn="ctr">
              <a:buNone/>
              <a:defRPr sz="2400"/>
            </a:pPr>
            <a:r>
              <a:rPr sz="2800" dirty="0"/>
              <a:t>Effective talks balance all three elements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BB610-C1E2-16F1-CDE3-B364DD3FE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Audience</a:t>
            </a:r>
          </a:p>
        </p:txBody>
      </p:sp>
      <p:pic>
        <p:nvPicPr>
          <p:cNvPr id="2050" name="Picture 2" descr="Real agency to the audience | openDemocracy">
            <a:extLst>
              <a:ext uri="{FF2B5EF4-FFF2-40B4-BE49-F238E27FC236}">
                <a16:creationId xmlns:a16="http://schemas.microsoft.com/office/drawing/2014/main" id="{9FDC744C-D712-DF45-A72D-AE84F18F3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87" y="1891200"/>
            <a:ext cx="6550701" cy="4359194"/>
          </a:xfrm>
          <a:prstGeom prst="rect">
            <a:avLst/>
          </a:prstGeom>
          <a:noFill/>
          <a:effectLst>
            <a:softEdge rad="63651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968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F1847B-DBFC-7789-F0BD-413015A8B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122" y="1142999"/>
            <a:ext cx="3470223" cy="4572001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Funding presentation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FC323AE0-5167-A453-C59C-031CEEA53759}"/>
              </a:ext>
            </a:extLst>
          </p:cNvPr>
          <p:cNvSpPr txBox="1">
            <a:spLocks/>
          </p:cNvSpPr>
          <p:nvPr/>
        </p:nvSpPr>
        <p:spPr>
          <a:xfrm>
            <a:off x="5446426" y="1154242"/>
            <a:ext cx="3240374" cy="4679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GB" dirty="0"/>
              <a:t>Conference presentation</a:t>
            </a:r>
          </a:p>
        </p:txBody>
      </p:sp>
      <p:pic>
        <p:nvPicPr>
          <p:cNvPr id="4098" name="Picture 2" descr="Qué significa funding? | Diccionario ...">
            <a:extLst>
              <a:ext uri="{FF2B5EF4-FFF2-40B4-BE49-F238E27FC236}">
                <a16:creationId xmlns:a16="http://schemas.microsoft.com/office/drawing/2014/main" id="{8B9D20C6-F60B-95BB-0CE0-308E9C379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488" y="2653259"/>
            <a:ext cx="2599270" cy="1729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10 Tips for a Successful Presentation | MeetingHand Blog">
            <a:extLst>
              <a:ext uri="{FF2B5EF4-FFF2-40B4-BE49-F238E27FC236}">
                <a16:creationId xmlns:a16="http://schemas.microsoft.com/office/drawing/2014/main" id="{8048C808-5F99-B866-9270-C4D21068C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6425" y="2771149"/>
            <a:ext cx="2879087" cy="1646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D81FAD11-A831-ADCC-BF14-859D74BD028B}"/>
              </a:ext>
            </a:extLst>
          </p:cNvPr>
          <p:cNvSpPr txBox="1"/>
          <p:nvPr/>
        </p:nvSpPr>
        <p:spPr>
          <a:xfrm>
            <a:off x="4088628" y="1154242"/>
            <a:ext cx="6582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>
                <a:solidFill>
                  <a:srgbClr val="C00000"/>
                </a:solidFill>
              </a:rPr>
              <a:t>vs</a:t>
            </a:r>
            <a:endParaRPr lang="en-GB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256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F1847B-DBFC-7789-F0BD-413015A8B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122" y="1142999"/>
            <a:ext cx="3470223" cy="4572001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/>
              <a:t>Funding presentation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FC323AE0-5167-A453-C59C-031CEEA53759}"/>
              </a:ext>
            </a:extLst>
          </p:cNvPr>
          <p:cNvSpPr txBox="1">
            <a:spLocks/>
          </p:cNvSpPr>
          <p:nvPr/>
        </p:nvSpPr>
        <p:spPr>
          <a:xfrm>
            <a:off x="5446426" y="1154242"/>
            <a:ext cx="3240374" cy="4679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GB" b="1" dirty="0"/>
              <a:t>Conference presentation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81FAD11-A831-ADCC-BF14-859D74BD028B}"/>
              </a:ext>
            </a:extLst>
          </p:cNvPr>
          <p:cNvSpPr txBox="1"/>
          <p:nvPr/>
        </p:nvSpPr>
        <p:spPr>
          <a:xfrm>
            <a:off x="4088628" y="1154242"/>
            <a:ext cx="6582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>
                <a:solidFill>
                  <a:srgbClr val="C00000"/>
                </a:solidFill>
              </a:rPr>
              <a:t>vs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079F2FE-DC60-B231-9D6C-283D44BB1422}"/>
              </a:ext>
            </a:extLst>
          </p:cNvPr>
          <p:cNvSpPr txBox="1"/>
          <p:nvPr/>
        </p:nvSpPr>
        <p:spPr>
          <a:xfrm>
            <a:off x="894414" y="2905780"/>
            <a:ext cx="3458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non-specialist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79DEDC5-C993-2C80-F75D-852F36DDD241}"/>
              </a:ext>
            </a:extLst>
          </p:cNvPr>
          <p:cNvSpPr txBox="1"/>
          <p:nvPr/>
        </p:nvSpPr>
        <p:spPr>
          <a:xfrm>
            <a:off x="5599450" y="2905779"/>
            <a:ext cx="3458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specialist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AC21910-7E39-93BF-B11B-879E347970A6}"/>
              </a:ext>
            </a:extLst>
          </p:cNvPr>
          <p:cNvSpPr txBox="1"/>
          <p:nvPr/>
        </p:nvSpPr>
        <p:spPr>
          <a:xfrm>
            <a:off x="535839" y="3646887"/>
            <a:ext cx="3458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outcome/applications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522C2D4-85BD-6935-B046-3FBF2A31A81D}"/>
              </a:ext>
            </a:extLst>
          </p:cNvPr>
          <p:cNvSpPr txBox="1"/>
          <p:nvPr/>
        </p:nvSpPr>
        <p:spPr>
          <a:xfrm>
            <a:off x="5140376" y="3646887"/>
            <a:ext cx="38087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theory/scientific method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9F2CDBE-F2CC-9887-B228-A4F812B36AD8}"/>
              </a:ext>
            </a:extLst>
          </p:cNvPr>
          <p:cNvSpPr txBox="1"/>
          <p:nvPr/>
        </p:nvSpPr>
        <p:spPr>
          <a:xfrm>
            <a:off x="129290" y="4625409"/>
            <a:ext cx="46175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doing something innovative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DDEF65D-B764-68C5-7799-A40EFF392A77}"/>
              </a:ext>
            </a:extLst>
          </p:cNvPr>
          <p:cNvSpPr txBox="1"/>
          <p:nvPr/>
        </p:nvSpPr>
        <p:spPr>
          <a:xfrm>
            <a:off x="4963053" y="4563255"/>
            <a:ext cx="37237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adding to established field</a:t>
            </a:r>
          </a:p>
        </p:txBody>
      </p:sp>
    </p:spTree>
    <p:extLst>
      <p:ext uri="{BB962C8B-B14F-4D97-AF65-F5344CB8AC3E}">
        <p14:creationId xmlns:p14="http://schemas.microsoft.com/office/powerpoint/2010/main" val="422665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A presentation is NOT a paper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/>
            </a:pPr>
            <a:r>
              <a:rPr sz="2800" dirty="0"/>
              <a:t>Common mistake: trying to include everything</a:t>
            </a:r>
          </a:p>
          <a:p>
            <a:pPr>
              <a:defRPr sz="2400"/>
            </a:pPr>
            <a:r>
              <a:rPr sz="2800" dirty="0"/>
              <a:t>A presentation should highlight the main idea</a:t>
            </a:r>
          </a:p>
          <a:p>
            <a:pPr>
              <a:defRPr sz="2400"/>
            </a:pPr>
            <a:r>
              <a:rPr sz="2800" dirty="0"/>
              <a:t>Focus on </a:t>
            </a:r>
            <a:r>
              <a:rPr sz="2800" dirty="0">
                <a:solidFill>
                  <a:srgbClr val="C00000"/>
                </a:solidFill>
              </a:rPr>
              <a:t>key findings</a:t>
            </a:r>
          </a:p>
          <a:p>
            <a:pPr>
              <a:defRPr sz="2400"/>
            </a:pPr>
            <a:r>
              <a:rPr sz="2800" dirty="0"/>
              <a:t>Tell a clear research 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B2DD39-0D29-BA79-04DA-FAE17684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358" y="2043478"/>
            <a:ext cx="8229600" cy="1143000"/>
          </a:xfrm>
        </p:spPr>
        <p:txBody>
          <a:bodyPr>
            <a:normAutofit/>
          </a:bodyPr>
          <a:lstStyle/>
          <a:p>
            <a:r>
              <a:rPr lang="en-GB" sz="6000" dirty="0">
                <a:solidFill>
                  <a:srgbClr val="C00000"/>
                </a:solidFill>
              </a:rPr>
              <a:t>I. Structure</a:t>
            </a:r>
          </a:p>
        </p:txBody>
      </p:sp>
    </p:spTree>
    <p:extLst>
      <p:ext uri="{BB962C8B-B14F-4D97-AF65-F5344CB8AC3E}">
        <p14:creationId xmlns:p14="http://schemas.microsoft.com/office/powerpoint/2010/main" val="1947633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Basic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/>
            </a:pPr>
            <a:r>
              <a:rPr sz="2800" dirty="0"/>
              <a:t>Background or context</a:t>
            </a:r>
          </a:p>
          <a:p>
            <a:pPr>
              <a:defRPr sz="2400"/>
            </a:pPr>
            <a:r>
              <a:rPr sz="2800" dirty="0"/>
              <a:t>Research question</a:t>
            </a:r>
            <a:r>
              <a:rPr lang="es-ES" sz="2800" dirty="0"/>
              <a:t>(s)</a:t>
            </a:r>
            <a:endParaRPr sz="2800" dirty="0"/>
          </a:p>
          <a:p>
            <a:pPr>
              <a:defRPr sz="2400"/>
            </a:pPr>
            <a:r>
              <a:rPr sz="2800" dirty="0"/>
              <a:t>Method </a:t>
            </a:r>
            <a:r>
              <a:rPr lang="es-ES" sz="2800" dirty="0"/>
              <a:t>/</a:t>
            </a:r>
            <a:r>
              <a:rPr sz="2800" dirty="0"/>
              <a:t> data</a:t>
            </a:r>
          </a:p>
          <a:p>
            <a:pPr>
              <a:defRPr sz="2400"/>
            </a:pPr>
            <a:r>
              <a:rPr sz="2800" dirty="0"/>
              <a:t>Main findings</a:t>
            </a:r>
            <a:r>
              <a:rPr lang="es-ES" sz="2800" dirty="0"/>
              <a:t> / </a:t>
            </a:r>
            <a:r>
              <a:rPr lang="es-ES" sz="2800" dirty="0" err="1"/>
              <a:t>discussion</a:t>
            </a:r>
            <a:endParaRPr sz="2800" dirty="0"/>
          </a:p>
          <a:p>
            <a:pPr>
              <a:defRPr sz="2400"/>
            </a:pPr>
            <a:r>
              <a:rPr sz="2800" dirty="0"/>
              <a:t>Conclusion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The 20‑minute conference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766278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sz="2800" dirty="0"/>
              <a:t>Introduction about 3 minutes</a:t>
            </a:r>
          </a:p>
          <a:p>
            <a:pPr>
              <a:defRPr sz="2400"/>
            </a:pPr>
            <a:r>
              <a:rPr sz="2800" dirty="0"/>
              <a:t>Literature </a:t>
            </a:r>
            <a:r>
              <a:rPr lang="es-ES" sz="2800" dirty="0" err="1"/>
              <a:t>review</a:t>
            </a:r>
            <a:r>
              <a:rPr lang="es-ES" sz="2800" dirty="0"/>
              <a:t> </a:t>
            </a:r>
            <a:r>
              <a:rPr sz="2800" dirty="0"/>
              <a:t>about 3 minutes</a:t>
            </a:r>
          </a:p>
          <a:p>
            <a:pPr>
              <a:defRPr sz="2400"/>
            </a:pPr>
            <a:r>
              <a:rPr sz="2800" dirty="0"/>
              <a:t>Method about 3 minutes</a:t>
            </a:r>
          </a:p>
          <a:p>
            <a:pPr>
              <a:defRPr sz="2400"/>
            </a:pPr>
            <a:r>
              <a:rPr sz="2800" dirty="0">
                <a:solidFill>
                  <a:srgbClr val="C00000"/>
                </a:solidFill>
              </a:rPr>
              <a:t>Findings about 8 minutes</a:t>
            </a:r>
          </a:p>
          <a:p>
            <a:pPr>
              <a:defRPr sz="2400"/>
            </a:pPr>
            <a:r>
              <a:rPr sz="2800" dirty="0"/>
              <a:t>Conclusion about 3 minutes</a:t>
            </a:r>
          </a:p>
        </p:txBody>
      </p:sp>
    </p:spTree>
    <p:extLst>
      <p:ext uri="{BB962C8B-B14F-4D97-AF65-F5344CB8AC3E}">
        <p14:creationId xmlns:p14="http://schemas.microsoft.com/office/powerpoint/2010/main" val="1550037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Designing effective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/>
            </a:pPr>
            <a:r>
              <a:rPr sz="2800" dirty="0"/>
              <a:t>Keep slides simple</a:t>
            </a:r>
          </a:p>
          <a:p>
            <a:pPr>
              <a:defRPr sz="2400"/>
            </a:pPr>
            <a:r>
              <a:rPr sz="2800" dirty="0"/>
              <a:t>Use minimal text</a:t>
            </a:r>
          </a:p>
          <a:p>
            <a:pPr>
              <a:defRPr sz="2400"/>
            </a:pPr>
            <a:r>
              <a:rPr sz="2800" dirty="0"/>
              <a:t>Use large readable fonts</a:t>
            </a:r>
          </a:p>
          <a:p>
            <a:pPr>
              <a:defRPr sz="2400"/>
            </a:pPr>
            <a:r>
              <a:rPr sz="2800" dirty="0"/>
              <a:t>Use visuals when useful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Example of an overloaded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/>
            </a:pPr>
            <a:r>
              <a:rPr sz="2800" dirty="0"/>
              <a:t>Long paragraphs</a:t>
            </a:r>
          </a:p>
          <a:p>
            <a:pPr>
              <a:defRPr sz="2400"/>
            </a:pPr>
            <a:r>
              <a:rPr sz="2800" dirty="0"/>
              <a:t>Too many bullet points</a:t>
            </a:r>
          </a:p>
          <a:p>
            <a:pPr>
              <a:defRPr sz="2400"/>
            </a:pPr>
            <a:r>
              <a:rPr sz="2800" dirty="0"/>
              <a:t>Small text</a:t>
            </a:r>
          </a:p>
          <a:p>
            <a:pPr>
              <a:defRPr sz="2400"/>
            </a:pPr>
            <a:r>
              <a:rPr sz="2800" dirty="0"/>
              <a:t>Audience reads instead of listening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an One Slide Deck Really Do It All? - Michael Piperno | Leadership  Communication and Executive Coach">
            <a:extLst>
              <a:ext uri="{FF2B5EF4-FFF2-40B4-BE49-F238E27FC236}">
                <a16:creationId xmlns:a16="http://schemas.microsoft.com/office/drawing/2014/main" id="{2CE7D77A-CE21-F81D-B647-5743A50AE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7250"/>
            <a:ext cx="9055724" cy="5093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3591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Better slide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/>
            </a:pPr>
            <a:r>
              <a:rPr sz="2800" dirty="0"/>
              <a:t>Clear title</a:t>
            </a:r>
          </a:p>
          <a:p>
            <a:pPr>
              <a:defRPr sz="2400"/>
            </a:pPr>
            <a:r>
              <a:rPr sz="2800" dirty="0"/>
              <a:t>One idea per slide</a:t>
            </a:r>
          </a:p>
          <a:p>
            <a:pPr>
              <a:defRPr sz="2400"/>
            </a:pPr>
            <a:r>
              <a:rPr sz="2800" dirty="0">
                <a:solidFill>
                  <a:srgbClr val="C00000"/>
                </a:solidFill>
              </a:rPr>
              <a:t>Keywords</a:t>
            </a:r>
            <a:r>
              <a:rPr sz="2800" dirty="0"/>
              <a:t> instead of sentences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B2DD39-0D29-BA79-04DA-FAE17684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358" y="2043478"/>
            <a:ext cx="8229600" cy="1143000"/>
          </a:xfrm>
        </p:spPr>
        <p:txBody>
          <a:bodyPr>
            <a:normAutofit/>
          </a:bodyPr>
          <a:lstStyle/>
          <a:p>
            <a:r>
              <a:rPr lang="en-GB" sz="6000" dirty="0">
                <a:solidFill>
                  <a:srgbClr val="C00000"/>
                </a:solidFill>
              </a:rPr>
              <a:t>II. Language</a:t>
            </a:r>
          </a:p>
        </p:txBody>
      </p:sp>
    </p:spTree>
    <p:extLst>
      <p:ext uri="{BB962C8B-B14F-4D97-AF65-F5344CB8AC3E}">
        <p14:creationId xmlns:p14="http://schemas.microsoft.com/office/powerpoint/2010/main" val="1062275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Signposting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/>
            </a:pPr>
            <a:r>
              <a:rPr sz="2800" dirty="0"/>
              <a:t>First I will briefly introduce…</a:t>
            </a:r>
          </a:p>
          <a:p>
            <a:pPr>
              <a:defRPr sz="2400"/>
            </a:pPr>
            <a:r>
              <a:rPr sz="2800" dirty="0"/>
              <a:t>Now I would like to turn to…</a:t>
            </a:r>
          </a:p>
          <a:p>
            <a:pPr>
              <a:defRPr sz="2400"/>
            </a:pPr>
            <a:r>
              <a:rPr sz="2800" dirty="0"/>
              <a:t>Let me move to the next point</a:t>
            </a:r>
          </a:p>
          <a:p>
            <a:pPr>
              <a:defRPr sz="2400"/>
            </a:pPr>
            <a:r>
              <a:rPr sz="2800" dirty="0"/>
              <a:t>To sum up…</a:t>
            </a:r>
          </a:p>
        </p:txBody>
      </p:sp>
      <p:pic>
        <p:nvPicPr>
          <p:cNvPr id="6146" name="Picture 2" descr="Feature-6-Signpost-which-way-to-go ...">
            <a:extLst>
              <a:ext uri="{FF2B5EF4-FFF2-40B4-BE49-F238E27FC236}">
                <a16:creationId xmlns:a16="http://schemas.microsoft.com/office/drawing/2014/main" id="{8934DE0F-1F44-2731-822D-014C27D3B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704" y="4024754"/>
            <a:ext cx="6760849" cy="1966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Bad vs Good Opening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51799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400" dirty="0" err="1"/>
              <a:t>Today</a:t>
            </a:r>
            <a:r>
              <a:rPr lang="es-ES" sz="2400" dirty="0"/>
              <a:t> I </a:t>
            </a:r>
            <a:r>
              <a:rPr lang="es-ES" sz="2400" dirty="0" err="1"/>
              <a:t>will</a:t>
            </a:r>
            <a:r>
              <a:rPr lang="es-ES" sz="2400" dirty="0"/>
              <a:t> </a:t>
            </a:r>
            <a:r>
              <a:rPr lang="es-ES" sz="2400" dirty="0" err="1"/>
              <a:t>present</a:t>
            </a:r>
            <a:r>
              <a:rPr lang="es-ES" sz="2400" dirty="0"/>
              <a:t> </a:t>
            </a:r>
            <a:r>
              <a:rPr lang="es-ES" sz="2400" dirty="0" err="1"/>
              <a:t>my</a:t>
            </a:r>
            <a:r>
              <a:rPr lang="es-ES" sz="2400" dirty="0"/>
              <a:t> </a:t>
            </a:r>
            <a:r>
              <a:rPr lang="es-ES" sz="2400" dirty="0" err="1"/>
              <a:t>research</a:t>
            </a:r>
            <a:r>
              <a:rPr lang="es-ES" sz="2400" dirty="0"/>
              <a:t> </a:t>
            </a:r>
            <a:r>
              <a:rPr lang="es-ES" sz="2400" dirty="0" err="1"/>
              <a:t>about</a:t>
            </a:r>
            <a:r>
              <a:rPr lang="es-ES" sz="2400" dirty="0"/>
              <a:t> </a:t>
            </a:r>
            <a:r>
              <a:rPr lang="es-ES" sz="2400" dirty="0" err="1"/>
              <a:t>migration</a:t>
            </a:r>
            <a:r>
              <a:rPr lang="es-ES" sz="2400" dirty="0"/>
              <a:t>.</a:t>
            </a:r>
          </a:p>
          <a:p>
            <a:pPr marL="0" indent="0" algn="ctr">
              <a:buNone/>
            </a:pPr>
            <a:r>
              <a:rPr lang="es-ES" sz="2400" dirty="0">
                <a:solidFill>
                  <a:srgbClr val="C00000"/>
                </a:solidFill>
              </a:rPr>
              <a:t>Vs</a:t>
            </a:r>
          </a:p>
          <a:p>
            <a:pPr marL="0" indent="0" algn="ctr">
              <a:buNone/>
            </a:pPr>
            <a:r>
              <a:rPr lang="es-ES" sz="2400" dirty="0"/>
              <a:t>My </a:t>
            </a:r>
            <a:r>
              <a:rPr lang="es-ES" sz="2400" dirty="0" err="1"/>
              <a:t>research</a:t>
            </a:r>
            <a:r>
              <a:rPr lang="es-ES" sz="2400" dirty="0"/>
              <a:t> examines </a:t>
            </a:r>
            <a:r>
              <a:rPr lang="es-ES" sz="2400" dirty="0" err="1"/>
              <a:t>how</a:t>
            </a:r>
            <a:r>
              <a:rPr lang="es-ES" sz="2400" dirty="0"/>
              <a:t> </a:t>
            </a:r>
            <a:r>
              <a:rPr lang="es-ES" sz="2400" dirty="0" err="1"/>
              <a:t>these</a:t>
            </a:r>
            <a:r>
              <a:rPr lang="es-ES" sz="2400" dirty="0"/>
              <a:t> </a:t>
            </a:r>
            <a:r>
              <a:rPr lang="es-ES" sz="2400" dirty="0" err="1"/>
              <a:t>metaphors</a:t>
            </a:r>
            <a:r>
              <a:rPr lang="es-ES" sz="2400" dirty="0"/>
              <a:t> </a:t>
            </a:r>
            <a:r>
              <a:rPr lang="es-ES" sz="2400" dirty="0" err="1"/>
              <a:t>shape</a:t>
            </a:r>
            <a:r>
              <a:rPr lang="es-ES" sz="2400" dirty="0"/>
              <a:t> </a:t>
            </a:r>
            <a:r>
              <a:rPr lang="es-ES" sz="2400" dirty="0" err="1"/>
              <a:t>public</a:t>
            </a:r>
            <a:r>
              <a:rPr lang="es-ES" sz="2400" dirty="0"/>
              <a:t> </a:t>
            </a:r>
            <a:r>
              <a:rPr lang="es-ES" sz="2400" dirty="0" err="1"/>
              <a:t>perceptions</a:t>
            </a:r>
            <a:r>
              <a:rPr lang="es-ES" sz="2400" dirty="0"/>
              <a:t> </a:t>
            </a:r>
            <a:r>
              <a:rPr lang="es-ES" sz="2400" dirty="0" err="1"/>
              <a:t>of</a:t>
            </a:r>
            <a:r>
              <a:rPr lang="es-ES" sz="2400" dirty="0"/>
              <a:t> </a:t>
            </a:r>
            <a:r>
              <a:rPr lang="es-ES" sz="2400" dirty="0" err="1"/>
              <a:t>migration</a:t>
            </a:r>
            <a:r>
              <a:rPr lang="es-ES" sz="2400" dirty="0"/>
              <a:t> in </a:t>
            </a:r>
            <a:r>
              <a:rPr lang="es-ES" sz="2400" dirty="0" err="1"/>
              <a:t>European</a:t>
            </a:r>
            <a:r>
              <a:rPr lang="es-ES" sz="2400" dirty="0"/>
              <a:t> media.</a:t>
            </a:r>
          </a:p>
          <a:p>
            <a:pPr marL="0" indent="0" algn="ctr">
              <a:buNone/>
            </a:pPr>
            <a:endParaRPr lang="es-ES" sz="2400" dirty="0"/>
          </a:p>
          <a:p>
            <a:pPr marL="0" indent="0" algn="ctr">
              <a:buNone/>
            </a:pPr>
            <a:endParaRPr lang="es-ES" sz="2400" dirty="0"/>
          </a:p>
          <a:p>
            <a:pPr marL="0" indent="0" algn="ctr">
              <a:buNone/>
            </a:pPr>
            <a:r>
              <a:rPr lang="es-ES" sz="2400" dirty="0"/>
              <a:t>My </a:t>
            </a:r>
            <a:r>
              <a:rPr lang="es-ES" sz="2400" dirty="0" err="1"/>
              <a:t>thesis</a:t>
            </a:r>
            <a:r>
              <a:rPr lang="es-ES" sz="2400" dirty="0"/>
              <a:t> has </a:t>
            </a:r>
            <a:r>
              <a:rPr lang="es-ES" sz="2400" dirty="0" err="1"/>
              <a:t>five</a:t>
            </a:r>
            <a:r>
              <a:rPr lang="es-ES" sz="2400" dirty="0"/>
              <a:t> </a:t>
            </a:r>
            <a:r>
              <a:rPr lang="es-ES" sz="2400" dirty="0" err="1"/>
              <a:t>chapters</a:t>
            </a:r>
            <a:endParaRPr lang="es-ES" sz="2400" dirty="0"/>
          </a:p>
          <a:p>
            <a:pPr marL="0" indent="0" algn="ctr">
              <a:buNone/>
            </a:pPr>
            <a:r>
              <a:rPr lang="es-ES" sz="2400" dirty="0">
                <a:solidFill>
                  <a:srgbClr val="C00000"/>
                </a:solidFill>
              </a:rPr>
              <a:t>Vs</a:t>
            </a:r>
          </a:p>
          <a:p>
            <a:pPr marL="0" indent="0" algn="ctr">
              <a:buNone/>
            </a:pPr>
            <a:r>
              <a:rPr lang="es-ES" sz="2400" dirty="0" err="1"/>
              <a:t>First</a:t>
            </a:r>
            <a:r>
              <a:rPr lang="es-ES" sz="2400" dirty="0"/>
              <a:t> I </a:t>
            </a:r>
            <a:r>
              <a:rPr lang="es-ES" sz="2400" dirty="0" err="1"/>
              <a:t>will</a:t>
            </a:r>
            <a:r>
              <a:rPr lang="es-ES" sz="2400" dirty="0"/>
              <a:t> </a:t>
            </a:r>
            <a:r>
              <a:rPr lang="es-ES" sz="2400" dirty="0" err="1"/>
              <a:t>talk</a:t>
            </a:r>
            <a:r>
              <a:rPr lang="es-ES" sz="2400" dirty="0"/>
              <a:t> </a:t>
            </a:r>
            <a:r>
              <a:rPr lang="es-ES" sz="2400" dirty="0" err="1"/>
              <a:t>about</a:t>
            </a:r>
            <a:r>
              <a:rPr lang="es-ES" sz="2400" dirty="0"/>
              <a:t> </a:t>
            </a:r>
            <a:r>
              <a:rPr lang="es-ES" sz="2400" dirty="0" err="1"/>
              <a:t>the</a:t>
            </a:r>
            <a:r>
              <a:rPr lang="es-ES" sz="2400" dirty="0"/>
              <a:t> </a:t>
            </a:r>
            <a:r>
              <a:rPr lang="es-ES" sz="2400" dirty="0" err="1"/>
              <a:t>literature</a:t>
            </a:r>
            <a:r>
              <a:rPr lang="es-ES" sz="2400" dirty="0"/>
              <a:t> </a:t>
            </a:r>
            <a:r>
              <a:rPr lang="es-ES" sz="2400" dirty="0" err="1"/>
              <a:t>review</a:t>
            </a:r>
            <a:r>
              <a:rPr lang="es-ES" sz="2400" dirty="0"/>
              <a:t> and </a:t>
            </a:r>
            <a:r>
              <a:rPr lang="es-ES" sz="2400" dirty="0" err="1"/>
              <a:t>then</a:t>
            </a:r>
            <a:r>
              <a:rPr lang="es-ES" sz="2400" dirty="0"/>
              <a:t> </a:t>
            </a:r>
            <a:r>
              <a:rPr lang="es-ES" sz="2400" dirty="0" err="1"/>
              <a:t>the</a:t>
            </a:r>
            <a:r>
              <a:rPr lang="es-ES" sz="2400" dirty="0"/>
              <a:t> </a:t>
            </a:r>
            <a:r>
              <a:rPr lang="es-ES" sz="2400" dirty="0" err="1"/>
              <a:t>methodology</a:t>
            </a:r>
            <a:r>
              <a:rPr lang="es-ES" sz="2400" dirty="0"/>
              <a:t>...</a:t>
            </a:r>
          </a:p>
          <a:p>
            <a:pPr algn="ctr"/>
            <a:endParaRPr lang="es-ES" sz="2400" dirty="0"/>
          </a:p>
          <a:p>
            <a:pPr>
              <a:defRPr sz="2400"/>
            </a:pPr>
            <a:endParaRPr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E1E7AFA-2F14-7156-572D-20728D395E19}"/>
              </a:ext>
            </a:extLst>
          </p:cNvPr>
          <p:cNvSpPr/>
          <p:nvPr/>
        </p:nvSpPr>
        <p:spPr>
          <a:xfrm>
            <a:off x="743712" y="1281898"/>
            <a:ext cx="8095488" cy="2147102"/>
          </a:xfrm>
          <a:prstGeom prst="rect">
            <a:avLst/>
          </a:prstGeom>
          <a:solidFill>
            <a:schemeClr val="bg2">
              <a:lumMod val="75000"/>
              <a:alpha val="1022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F4CDBFE-61AC-266D-304B-C4FBBD8CB936}"/>
              </a:ext>
            </a:extLst>
          </p:cNvPr>
          <p:cNvSpPr/>
          <p:nvPr/>
        </p:nvSpPr>
        <p:spPr>
          <a:xfrm>
            <a:off x="896112" y="4111053"/>
            <a:ext cx="7663272" cy="2011362"/>
          </a:xfrm>
          <a:prstGeom prst="rect">
            <a:avLst/>
          </a:prstGeom>
          <a:solidFill>
            <a:schemeClr val="accent2">
              <a:lumMod val="40000"/>
              <a:lumOff val="60000"/>
              <a:alpha val="28331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5132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Written vs spoken academic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  <a:defRPr sz="2400"/>
            </a:pPr>
            <a:r>
              <a:rPr sz="2800" b="1" dirty="0"/>
              <a:t>Written: </a:t>
            </a:r>
            <a:r>
              <a:rPr sz="2800" dirty="0"/>
              <a:t>This study aims to investigate the discursive construction of migration</a:t>
            </a:r>
            <a:endParaRPr lang="es-ES" sz="2800" dirty="0"/>
          </a:p>
          <a:p>
            <a:pPr marL="0" indent="0">
              <a:buNone/>
              <a:defRPr sz="2400"/>
            </a:pPr>
            <a:endParaRPr sz="2800" dirty="0"/>
          </a:p>
          <a:p>
            <a:pPr marL="0" indent="0">
              <a:buNone/>
              <a:defRPr sz="2400"/>
            </a:pPr>
            <a:r>
              <a:rPr sz="2800" b="1" dirty="0"/>
              <a:t>Spoken: </a:t>
            </a:r>
            <a:r>
              <a:rPr lang="es-ES" sz="2800" dirty="0" err="1"/>
              <a:t>For</a:t>
            </a:r>
            <a:r>
              <a:rPr sz="2800" dirty="0"/>
              <a:t> this study I examine how migration is discussed</a:t>
            </a:r>
          </a:p>
          <a:p>
            <a:pPr marL="0" indent="0">
              <a:buNone/>
            </a:pPr>
            <a:endParaRPr lang="es-ES" sz="2800" dirty="0"/>
          </a:p>
          <a:p>
            <a:pPr marL="0" indent="0" algn="ctr">
              <a:buNone/>
            </a:pPr>
            <a:r>
              <a:rPr lang="es-ES" sz="2800" dirty="0" err="1">
                <a:solidFill>
                  <a:srgbClr val="C00000"/>
                </a:solidFill>
              </a:rPr>
              <a:t>Spoken</a:t>
            </a:r>
            <a:r>
              <a:rPr lang="es-ES" sz="2800" dirty="0">
                <a:solidFill>
                  <a:srgbClr val="C00000"/>
                </a:solidFill>
              </a:rPr>
              <a:t> </a:t>
            </a:r>
            <a:r>
              <a:rPr lang="es-ES" sz="2800" dirty="0" err="1">
                <a:solidFill>
                  <a:srgbClr val="C00000"/>
                </a:solidFill>
              </a:rPr>
              <a:t>academic</a:t>
            </a:r>
            <a:r>
              <a:rPr lang="es-ES" sz="2800" dirty="0">
                <a:solidFill>
                  <a:srgbClr val="C00000"/>
                </a:solidFill>
              </a:rPr>
              <a:t> English </a:t>
            </a:r>
            <a:r>
              <a:rPr lang="es-ES" sz="2800" dirty="0" err="1">
                <a:solidFill>
                  <a:srgbClr val="C00000"/>
                </a:solidFill>
              </a:rPr>
              <a:t>should</a:t>
            </a:r>
            <a:r>
              <a:rPr lang="es-ES" sz="2800" dirty="0">
                <a:solidFill>
                  <a:srgbClr val="C00000"/>
                </a:solidFill>
              </a:rPr>
              <a:t> be: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 err="1">
                <a:solidFill>
                  <a:srgbClr val="C00000"/>
                </a:solidFill>
              </a:rPr>
              <a:t>slightly</a:t>
            </a:r>
            <a:r>
              <a:rPr lang="es-ES" sz="2800" dirty="0">
                <a:solidFill>
                  <a:srgbClr val="C00000"/>
                </a:solidFill>
              </a:rPr>
              <a:t> </a:t>
            </a:r>
            <a:r>
              <a:rPr lang="es-ES" sz="2800" dirty="0" err="1">
                <a:solidFill>
                  <a:srgbClr val="C00000"/>
                </a:solidFill>
              </a:rPr>
              <a:t>simpler</a:t>
            </a:r>
            <a:endParaRPr lang="es-ES" sz="2800" dirty="0">
              <a:solidFill>
                <a:srgbClr val="C0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 err="1">
                <a:solidFill>
                  <a:srgbClr val="C00000"/>
                </a:solidFill>
              </a:rPr>
              <a:t>shorter</a:t>
            </a:r>
            <a:endParaRPr lang="es-ES" sz="2800" dirty="0">
              <a:solidFill>
                <a:srgbClr val="C0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 err="1">
                <a:solidFill>
                  <a:srgbClr val="C00000"/>
                </a:solidFill>
              </a:rPr>
              <a:t>easier</a:t>
            </a:r>
            <a:r>
              <a:rPr lang="es-ES" sz="2800" dirty="0">
                <a:solidFill>
                  <a:srgbClr val="C00000"/>
                </a:solidFill>
              </a:rPr>
              <a:t> </a:t>
            </a:r>
            <a:r>
              <a:rPr lang="es-ES" sz="2800" dirty="0" err="1">
                <a:solidFill>
                  <a:srgbClr val="C00000"/>
                </a:solidFill>
              </a:rPr>
              <a:t>to</a:t>
            </a:r>
            <a:r>
              <a:rPr lang="es-ES" sz="2800" dirty="0">
                <a:solidFill>
                  <a:srgbClr val="C00000"/>
                </a:solidFill>
              </a:rPr>
              <a:t> </a:t>
            </a:r>
            <a:r>
              <a:rPr lang="es-ES" sz="2800" dirty="0" err="1">
                <a:solidFill>
                  <a:srgbClr val="C00000"/>
                </a:solidFill>
              </a:rPr>
              <a:t>follow</a:t>
            </a:r>
            <a:endParaRPr lang="es-ES" sz="2800" dirty="0">
              <a:solidFill>
                <a:srgbClr val="C00000"/>
              </a:solidFill>
            </a:endParaRPr>
          </a:p>
          <a:p>
            <a:pPr>
              <a:defRPr sz="24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1488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8A4F17-377E-C6BA-CBC7-82B73B76C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ES" b="1" dirty="0"/>
              <a:t>Explaining </a:t>
            </a:r>
            <a:r>
              <a:rPr lang="es-ES" b="1" dirty="0" err="1"/>
              <a:t>research</a:t>
            </a:r>
            <a:r>
              <a:rPr lang="es-ES" b="1" dirty="0"/>
              <a:t> </a:t>
            </a:r>
            <a:r>
              <a:rPr lang="es-ES" b="1" dirty="0" err="1"/>
              <a:t>to</a:t>
            </a:r>
            <a:r>
              <a:rPr lang="es-ES" b="1" dirty="0"/>
              <a:t> non-</a:t>
            </a:r>
            <a:r>
              <a:rPr lang="es-ES" b="1" dirty="0" err="1"/>
              <a:t>specialists</a:t>
            </a:r>
            <a:br>
              <a:rPr lang="es-ES" dirty="0"/>
            </a:br>
            <a:endParaRPr lang="en-GB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9E5373-F61D-60B9-8BCB-B7DE69E1E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541" y="1450298"/>
            <a:ext cx="8506918" cy="495050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br>
              <a:rPr lang="es-ES" sz="5900" dirty="0"/>
            </a:br>
            <a:r>
              <a:rPr lang="es-ES" sz="5900" dirty="0" err="1"/>
              <a:t>Academic</a:t>
            </a:r>
            <a:r>
              <a:rPr lang="es-ES" sz="5900" dirty="0"/>
              <a:t> </a:t>
            </a:r>
            <a:r>
              <a:rPr lang="es-ES" sz="5900" dirty="0" err="1"/>
              <a:t>audiences</a:t>
            </a:r>
            <a:r>
              <a:rPr lang="es-ES" sz="5900" dirty="0"/>
              <a:t> are </a:t>
            </a:r>
            <a:r>
              <a:rPr lang="es-ES" sz="5900" dirty="0" err="1"/>
              <a:t>often</a:t>
            </a:r>
            <a:r>
              <a:rPr lang="es-ES" sz="5900" dirty="0"/>
              <a:t> </a:t>
            </a:r>
            <a:r>
              <a:rPr lang="es-ES" sz="5900" b="1" dirty="0" err="1"/>
              <a:t>not</a:t>
            </a:r>
            <a:r>
              <a:rPr lang="es-ES" sz="5900" b="1" dirty="0"/>
              <a:t> </a:t>
            </a:r>
            <a:r>
              <a:rPr lang="es-ES" sz="5900" b="1" dirty="0" err="1"/>
              <a:t>experts</a:t>
            </a:r>
            <a:r>
              <a:rPr lang="es-ES" sz="5900" b="1" dirty="0"/>
              <a:t> in </a:t>
            </a:r>
            <a:r>
              <a:rPr lang="es-ES" sz="5900" b="1" dirty="0" err="1"/>
              <a:t>your</a:t>
            </a:r>
            <a:r>
              <a:rPr lang="es-ES" sz="5900" b="1" dirty="0"/>
              <a:t> </a:t>
            </a:r>
            <a:r>
              <a:rPr lang="es-ES" sz="5900" b="1" dirty="0" err="1"/>
              <a:t>specific</a:t>
            </a:r>
            <a:r>
              <a:rPr lang="es-ES" sz="5900" b="1" dirty="0"/>
              <a:t> </a:t>
            </a:r>
            <a:r>
              <a:rPr lang="es-ES" sz="5900" b="1" dirty="0" err="1"/>
              <a:t>field</a:t>
            </a:r>
            <a:r>
              <a:rPr lang="es-ES" sz="5900" dirty="0"/>
              <a:t>.</a:t>
            </a:r>
          </a:p>
          <a:p>
            <a:pPr marL="0" indent="0">
              <a:buNone/>
            </a:pPr>
            <a:endParaRPr lang="es-ES" sz="5900" dirty="0"/>
          </a:p>
          <a:p>
            <a:pPr marL="0" indent="0">
              <a:buNone/>
            </a:pPr>
            <a:r>
              <a:rPr lang="es-ES" sz="5900" dirty="0"/>
              <a:t>Good </a:t>
            </a:r>
            <a:r>
              <a:rPr lang="es-ES" sz="5900" dirty="0" err="1"/>
              <a:t>presenters</a:t>
            </a:r>
            <a:r>
              <a:rPr lang="es-ES" sz="5900" dirty="0"/>
              <a:t>:</a:t>
            </a:r>
          </a:p>
          <a:p>
            <a:pPr marL="0" indent="0">
              <a:buNone/>
            </a:pPr>
            <a:br>
              <a:rPr lang="es-ES" sz="5900" dirty="0"/>
            </a:br>
            <a:endParaRPr lang="es-ES" sz="5900" dirty="0"/>
          </a:p>
          <a:p>
            <a:r>
              <a:rPr lang="es-ES" sz="5900" dirty="0" err="1"/>
              <a:t>avoid</a:t>
            </a:r>
            <a:r>
              <a:rPr lang="es-ES" sz="5900" dirty="0"/>
              <a:t> </a:t>
            </a:r>
            <a:r>
              <a:rPr lang="es-ES" sz="5900" dirty="0" err="1"/>
              <a:t>unnecessary</a:t>
            </a:r>
            <a:r>
              <a:rPr lang="es-ES" sz="5900" dirty="0"/>
              <a:t> </a:t>
            </a:r>
            <a:r>
              <a:rPr lang="es-ES" sz="5900" dirty="0" err="1"/>
              <a:t>jargon</a:t>
            </a:r>
            <a:endParaRPr lang="es-ES" sz="5900" dirty="0"/>
          </a:p>
          <a:p>
            <a:r>
              <a:rPr lang="es-ES" sz="5900" dirty="0" err="1"/>
              <a:t>explain</a:t>
            </a:r>
            <a:r>
              <a:rPr lang="es-ES" sz="5900" dirty="0"/>
              <a:t> </a:t>
            </a:r>
            <a:r>
              <a:rPr lang="es-ES" sz="5900" dirty="0" err="1"/>
              <a:t>key</a:t>
            </a:r>
            <a:r>
              <a:rPr lang="es-ES" sz="5900" dirty="0"/>
              <a:t> </a:t>
            </a:r>
            <a:r>
              <a:rPr lang="es-ES" sz="5900" dirty="0" err="1"/>
              <a:t>concepts</a:t>
            </a:r>
            <a:r>
              <a:rPr lang="es-ES" sz="5900" dirty="0"/>
              <a:t> </a:t>
            </a:r>
            <a:r>
              <a:rPr lang="es-ES" sz="5900" dirty="0" err="1"/>
              <a:t>briefly</a:t>
            </a:r>
            <a:endParaRPr lang="es-ES" sz="5900" dirty="0"/>
          </a:p>
          <a:p>
            <a:r>
              <a:rPr lang="es-ES" sz="5900" dirty="0" err="1"/>
              <a:t>focus</a:t>
            </a:r>
            <a:r>
              <a:rPr lang="es-ES" sz="5900" dirty="0"/>
              <a:t> </a:t>
            </a:r>
            <a:r>
              <a:rPr lang="es-ES" sz="5900" dirty="0" err="1"/>
              <a:t>on</a:t>
            </a:r>
            <a:r>
              <a:rPr lang="es-ES" sz="5900" dirty="0"/>
              <a:t> </a:t>
            </a:r>
            <a:r>
              <a:rPr lang="es-ES" sz="5900" dirty="0" err="1"/>
              <a:t>the</a:t>
            </a:r>
            <a:r>
              <a:rPr lang="es-ES" sz="5900" dirty="0"/>
              <a:t> </a:t>
            </a:r>
            <a:r>
              <a:rPr lang="es-ES" sz="5900" dirty="0" err="1"/>
              <a:t>main</a:t>
            </a:r>
            <a:r>
              <a:rPr lang="es-ES" sz="5900" dirty="0"/>
              <a:t> idea</a:t>
            </a:r>
          </a:p>
          <a:p>
            <a:r>
              <a:rPr lang="es-ES" sz="5900" dirty="0" err="1"/>
              <a:t>give</a:t>
            </a:r>
            <a:r>
              <a:rPr lang="es-ES" sz="5900" dirty="0"/>
              <a:t> simple </a:t>
            </a:r>
            <a:r>
              <a:rPr lang="es-ES" sz="5900" dirty="0" err="1"/>
              <a:t>examples</a:t>
            </a:r>
            <a:endParaRPr lang="es-ES" sz="5900" dirty="0"/>
          </a:p>
          <a:p>
            <a:r>
              <a:rPr lang="es-ES" sz="5900" dirty="0" err="1"/>
              <a:t>think</a:t>
            </a:r>
            <a:r>
              <a:rPr lang="es-ES" sz="5900" dirty="0"/>
              <a:t> </a:t>
            </a:r>
            <a:r>
              <a:rPr lang="es-ES" sz="5900" dirty="0" err="1"/>
              <a:t>about</a:t>
            </a:r>
            <a:r>
              <a:rPr lang="es-ES" sz="5900" dirty="0"/>
              <a:t> </a:t>
            </a:r>
            <a:r>
              <a:rPr lang="es-ES" sz="5900" dirty="0" err="1"/>
              <a:t>rapport</a:t>
            </a:r>
            <a:endParaRPr lang="es-ES" sz="59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2772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23D6CA-6FC2-7FC7-46F9-8874ED281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56016"/>
            <a:ext cx="8686800" cy="508298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s-ES" dirty="0" err="1"/>
              <a:t>Specialist</a:t>
            </a:r>
            <a:r>
              <a:rPr lang="es-ES" dirty="0"/>
              <a:t> </a:t>
            </a:r>
            <a:r>
              <a:rPr lang="es-ES" dirty="0" err="1"/>
              <a:t>version</a:t>
            </a:r>
            <a:br>
              <a:rPr lang="es-ES" dirty="0"/>
            </a:br>
            <a:endParaRPr lang="es-ES" dirty="0"/>
          </a:p>
          <a:p>
            <a:pPr marL="0" indent="0">
              <a:lnSpc>
                <a:spcPct val="120000"/>
              </a:lnSpc>
              <a:buNone/>
            </a:pP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research</a:t>
            </a:r>
            <a:r>
              <a:rPr lang="es-ES" dirty="0"/>
              <a:t> </a:t>
            </a:r>
            <a:r>
              <a:rPr lang="es-ES" dirty="0" err="1"/>
              <a:t>analyses</a:t>
            </a:r>
            <a:r>
              <a:rPr lang="es-ES" dirty="0"/>
              <a:t> </a:t>
            </a:r>
            <a:r>
              <a:rPr lang="es-ES" dirty="0" err="1"/>
              <a:t>metaphorical</a:t>
            </a:r>
            <a:r>
              <a:rPr lang="es-ES" dirty="0"/>
              <a:t> </a:t>
            </a:r>
            <a:r>
              <a:rPr lang="es-ES" dirty="0" err="1"/>
              <a:t>framing</a:t>
            </a:r>
            <a:r>
              <a:rPr lang="es-ES" dirty="0"/>
              <a:t> in </a:t>
            </a:r>
            <a:r>
              <a:rPr lang="es-ES" dirty="0" err="1"/>
              <a:t>higher-education</a:t>
            </a:r>
            <a:r>
              <a:rPr lang="es-ES" dirty="0"/>
              <a:t> crisis </a:t>
            </a:r>
            <a:r>
              <a:rPr lang="es-ES" dirty="0" err="1"/>
              <a:t>discourse</a:t>
            </a:r>
            <a:r>
              <a:rPr lang="es-ES" dirty="0"/>
              <a:t>. </a:t>
            </a:r>
            <a:br>
              <a:rPr lang="es-ES" dirty="0"/>
            </a:br>
            <a:endParaRPr lang="es-ES" dirty="0"/>
          </a:p>
          <a:p>
            <a:pPr>
              <a:lnSpc>
                <a:spcPct val="120000"/>
              </a:lnSpc>
            </a:pPr>
            <a:r>
              <a:rPr lang="es-ES" dirty="0" err="1">
                <a:solidFill>
                  <a:srgbClr val="C00000"/>
                </a:solidFill>
              </a:rPr>
              <a:t>Clearer</a:t>
            </a:r>
            <a:r>
              <a:rPr lang="es-ES" dirty="0">
                <a:solidFill>
                  <a:srgbClr val="C00000"/>
                </a:solidFill>
              </a:rPr>
              <a:t> </a:t>
            </a:r>
            <a:r>
              <a:rPr lang="es-ES" dirty="0" err="1">
                <a:solidFill>
                  <a:srgbClr val="C00000"/>
                </a:solidFill>
              </a:rPr>
              <a:t>version</a:t>
            </a:r>
            <a:endParaRPr lang="es-ES" dirty="0">
              <a:solidFill>
                <a:srgbClr val="C0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endParaRPr lang="es-ES" dirty="0">
              <a:solidFill>
                <a:srgbClr val="C0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s-ES" dirty="0">
                <a:solidFill>
                  <a:srgbClr val="C00000"/>
                </a:solidFill>
              </a:rPr>
              <a:t>My </a:t>
            </a:r>
            <a:r>
              <a:rPr lang="es-ES" dirty="0" err="1">
                <a:solidFill>
                  <a:srgbClr val="C00000"/>
                </a:solidFill>
              </a:rPr>
              <a:t>research</a:t>
            </a:r>
            <a:r>
              <a:rPr lang="es-ES" dirty="0">
                <a:solidFill>
                  <a:srgbClr val="C00000"/>
                </a:solidFill>
              </a:rPr>
              <a:t> examines </a:t>
            </a:r>
            <a:r>
              <a:rPr lang="es-ES" dirty="0" err="1">
                <a:solidFill>
                  <a:srgbClr val="C00000"/>
                </a:solidFill>
              </a:rPr>
              <a:t>how</a:t>
            </a:r>
            <a:r>
              <a:rPr lang="es-ES" dirty="0">
                <a:solidFill>
                  <a:srgbClr val="C00000"/>
                </a:solidFill>
              </a:rPr>
              <a:t> </a:t>
            </a:r>
            <a:r>
              <a:rPr lang="es-ES" dirty="0" err="1">
                <a:solidFill>
                  <a:srgbClr val="C00000"/>
                </a:solidFill>
              </a:rPr>
              <a:t>universities</a:t>
            </a:r>
            <a:r>
              <a:rPr lang="es-ES" dirty="0">
                <a:solidFill>
                  <a:srgbClr val="C00000"/>
                </a:solidFill>
              </a:rPr>
              <a:t> are </a:t>
            </a:r>
            <a:r>
              <a:rPr lang="es-ES" dirty="0" err="1">
                <a:solidFill>
                  <a:srgbClr val="C00000"/>
                </a:solidFill>
              </a:rPr>
              <a:t>described</a:t>
            </a:r>
            <a:r>
              <a:rPr lang="es-ES" dirty="0">
                <a:solidFill>
                  <a:srgbClr val="C00000"/>
                </a:solidFill>
              </a:rPr>
              <a:t> </a:t>
            </a:r>
            <a:r>
              <a:rPr lang="es-ES" dirty="0" err="1">
                <a:solidFill>
                  <a:srgbClr val="C00000"/>
                </a:solidFill>
              </a:rPr>
              <a:t>using</a:t>
            </a:r>
            <a:r>
              <a:rPr lang="es-ES" dirty="0">
                <a:solidFill>
                  <a:srgbClr val="C00000"/>
                </a:solidFill>
              </a:rPr>
              <a:t> crisis </a:t>
            </a:r>
            <a:r>
              <a:rPr lang="es-ES" dirty="0" err="1">
                <a:solidFill>
                  <a:srgbClr val="C00000"/>
                </a:solidFill>
              </a:rPr>
              <a:t>metaphors</a:t>
            </a:r>
            <a:r>
              <a:rPr lang="es-ES" dirty="0">
                <a:solidFill>
                  <a:srgbClr val="C00000"/>
                </a:solidFill>
              </a:rPr>
              <a:t> in </a:t>
            </a:r>
            <a:r>
              <a:rPr lang="es-ES" dirty="0" err="1">
                <a:solidFill>
                  <a:srgbClr val="C00000"/>
                </a:solidFill>
              </a:rPr>
              <a:t>public</a:t>
            </a:r>
            <a:r>
              <a:rPr lang="es-ES" dirty="0">
                <a:solidFill>
                  <a:srgbClr val="C00000"/>
                </a:solidFill>
              </a:rPr>
              <a:t> debate. </a:t>
            </a:r>
            <a:endParaRPr lang="en-GB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6346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rPr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400"/>
            </a:pPr>
            <a:r>
              <a:rPr sz="2800" dirty="0"/>
              <a:t>Explain your research</a:t>
            </a:r>
            <a:r>
              <a:rPr lang="es-ES" sz="2800" dirty="0"/>
              <a:t> </a:t>
            </a:r>
            <a:r>
              <a:rPr lang="es-ES" sz="2800" dirty="0" err="1"/>
              <a:t>to</a:t>
            </a:r>
            <a:r>
              <a:rPr lang="es-ES" sz="2800" dirty="0"/>
              <a:t> a non-</a:t>
            </a:r>
            <a:r>
              <a:rPr lang="es-ES" sz="2800" dirty="0" err="1"/>
              <a:t>specialist</a:t>
            </a:r>
            <a:r>
              <a:rPr sz="2800" dirty="0"/>
              <a:t> in two sentences</a:t>
            </a:r>
            <a:endParaRPr lang="es-ES" sz="2800" dirty="0"/>
          </a:p>
          <a:p>
            <a:pPr marL="0" indent="0">
              <a:buNone/>
              <a:defRPr sz="2400"/>
            </a:pPr>
            <a:endParaRPr sz="2800" dirty="0"/>
          </a:p>
          <a:p>
            <a:pPr>
              <a:defRPr sz="2400"/>
            </a:pPr>
            <a:r>
              <a:rPr sz="2800" dirty="0"/>
              <a:t>Sentence 1: My research examines…</a:t>
            </a:r>
          </a:p>
          <a:p>
            <a:pPr>
              <a:defRPr sz="2400"/>
            </a:pPr>
            <a:r>
              <a:rPr sz="2800" dirty="0"/>
              <a:t>Sentence 2: Specifically I investigate…</a:t>
            </a:r>
          </a:p>
        </p:txBody>
      </p:sp>
    </p:spTree>
    <p:extLst>
      <p:ext uri="{BB962C8B-B14F-4D97-AF65-F5344CB8AC3E}">
        <p14:creationId xmlns:p14="http://schemas.microsoft.com/office/powerpoint/2010/main" val="34503507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B2DD39-0D29-BA79-04DA-FAE17684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358" y="2043478"/>
            <a:ext cx="8229600" cy="1143000"/>
          </a:xfrm>
        </p:spPr>
        <p:txBody>
          <a:bodyPr>
            <a:normAutofit/>
          </a:bodyPr>
          <a:lstStyle/>
          <a:p>
            <a:r>
              <a:rPr lang="en-GB" sz="6000" dirty="0">
                <a:solidFill>
                  <a:srgbClr val="C00000"/>
                </a:solidFill>
              </a:rPr>
              <a:t>III. Delivery</a:t>
            </a:r>
          </a:p>
        </p:txBody>
      </p:sp>
    </p:spTree>
    <p:extLst>
      <p:ext uri="{BB962C8B-B14F-4D97-AF65-F5344CB8AC3E}">
        <p14:creationId xmlns:p14="http://schemas.microsoft.com/office/powerpoint/2010/main" val="10642668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Starting a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431967" cy="4525963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sz="2800" dirty="0"/>
              <a:t>Today I would like to talk about…</a:t>
            </a:r>
            <a:endParaRPr lang="es-ES" sz="2800" dirty="0"/>
          </a:p>
          <a:p>
            <a:pPr>
              <a:defRPr sz="2400"/>
            </a:pPr>
            <a:r>
              <a:rPr lang="es-ES" sz="2800" dirty="0"/>
              <a:t>Hiya, </a:t>
            </a:r>
            <a:r>
              <a:rPr lang="es-ES" sz="2800" dirty="0" err="1"/>
              <a:t>I’m</a:t>
            </a:r>
            <a:r>
              <a:rPr lang="es-ES" sz="2800" dirty="0"/>
              <a:t> </a:t>
            </a:r>
            <a:r>
              <a:rPr lang="es-ES" sz="2800" dirty="0" err="1"/>
              <a:t>gonna</a:t>
            </a:r>
            <a:r>
              <a:rPr lang="es-ES" sz="2800" dirty="0"/>
              <a:t> </a:t>
            </a:r>
            <a:r>
              <a:rPr lang="es-ES" sz="2800" dirty="0" err="1"/>
              <a:t>tell</a:t>
            </a:r>
            <a:r>
              <a:rPr lang="es-ES" sz="2800" dirty="0"/>
              <a:t> </a:t>
            </a:r>
            <a:r>
              <a:rPr lang="es-ES" sz="2800" dirty="0" err="1"/>
              <a:t>you</a:t>
            </a:r>
            <a:r>
              <a:rPr lang="es-ES" sz="2800" dirty="0"/>
              <a:t> </a:t>
            </a:r>
            <a:r>
              <a:rPr lang="es-ES" sz="2800" dirty="0" err="1"/>
              <a:t>about</a:t>
            </a:r>
            <a:r>
              <a:rPr lang="es-ES" sz="2800" dirty="0"/>
              <a:t> </a:t>
            </a:r>
            <a:r>
              <a:rPr lang="es-ES" sz="2800" dirty="0" err="1"/>
              <a:t>my</a:t>
            </a:r>
            <a:r>
              <a:rPr lang="es-ES" sz="2800" dirty="0"/>
              <a:t> </a:t>
            </a:r>
            <a:r>
              <a:rPr lang="es-ES" sz="2800" dirty="0" err="1"/>
              <a:t>research</a:t>
            </a:r>
            <a:endParaRPr lang="es-ES" sz="2800" dirty="0"/>
          </a:p>
          <a:p>
            <a:pPr>
              <a:defRPr sz="2400"/>
            </a:pPr>
            <a:r>
              <a:rPr sz="2800" dirty="0"/>
              <a:t>This presentation examines…</a:t>
            </a:r>
          </a:p>
          <a:p>
            <a:pPr>
              <a:defRPr sz="2400"/>
            </a:pPr>
            <a:r>
              <a:rPr sz="2800" dirty="0"/>
              <a:t>My research focuses on…</a:t>
            </a:r>
          </a:p>
          <a:p>
            <a:pPr>
              <a:defRPr sz="2400"/>
            </a:pPr>
            <a:r>
              <a:rPr sz="2800" dirty="0"/>
              <a:t>The aim of this study is to…</a:t>
            </a:r>
            <a:endParaRPr lang="es-ES" sz="2800" dirty="0"/>
          </a:p>
          <a:p>
            <a:pPr>
              <a:defRPr sz="2400"/>
            </a:pPr>
            <a:r>
              <a:rPr lang="es-ES" sz="2800" dirty="0"/>
              <a:t>Good </a:t>
            </a:r>
            <a:r>
              <a:rPr lang="es-ES" sz="2800" dirty="0" err="1"/>
              <a:t>morning</a:t>
            </a:r>
            <a:r>
              <a:rPr lang="es-ES" sz="2800" dirty="0"/>
              <a:t>, </a:t>
            </a:r>
            <a:r>
              <a:rPr lang="es-ES" sz="2800" dirty="0" err="1"/>
              <a:t>my</a:t>
            </a:r>
            <a:r>
              <a:rPr lang="es-ES" sz="2800" dirty="0"/>
              <a:t> </a:t>
            </a:r>
            <a:r>
              <a:rPr lang="es-ES" sz="2800" dirty="0" err="1"/>
              <a:t>name’s</a:t>
            </a:r>
            <a:r>
              <a:rPr lang="es-ES" sz="2800" dirty="0"/>
              <a:t> Katie and </a:t>
            </a:r>
            <a:r>
              <a:rPr lang="es-ES" sz="2800" dirty="0" err="1"/>
              <a:t>I’d</a:t>
            </a:r>
            <a:r>
              <a:rPr lang="es-ES" sz="2800" dirty="0"/>
              <a:t> </a:t>
            </a:r>
            <a:r>
              <a:rPr lang="es-ES" sz="2800" dirty="0" err="1"/>
              <a:t>like</a:t>
            </a:r>
            <a:r>
              <a:rPr lang="es-ES" sz="2800" dirty="0"/>
              <a:t> </a:t>
            </a:r>
            <a:r>
              <a:rPr lang="es-ES" sz="2800" dirty="0" err="1"/>
              <a:t>to</a:t>
            </a:r>
            <a:r>
              <a:rPr lang="es-ES" sz="2800" dirty="0"/>
              <a:t> </a:t>
            </a:r>
            <a:r>
              <a:rPr lang="es-ES" sz="2800" dirty="0" err="1"/>
              <a:t>talk</a:t>
            </a:r>
            <a:r>
              <a:rPr lang="es-ES" sz="2800" dirty="0"/>
              <a:t> </a:t>
            </a:r>
            <a:r>
              <a:rPr lang="es-ES" sz="2800" dirty="0" err="1"/>
              <a:t>to</a:t>
            </a:r>
            <a:r>
              <a:rPr lang="es-ES" sz="2800" dirty="0"/>
              <a:t> </a:t>
            </a:r>
            <a:r>
              <a:rPr lang="es-ES" sz="2800" dirty="0" err="1"/>
              <a:t>you</a:t>
            </a:r>
            <a:r>
              <a:rPr lang="es-ES" sz="2800" dirty="0"/>
              <a:t> </a:t>
            </a:r>
            <a:r>
              <a:rPr lang="es-ES" sz="2800" dirty="0" err="1"/>
              <a:t>about</a:t>
            </a:r>
            <a:r>
              <a:rPr lang="es-ES" sz="2800" dirty="0"/>
              <a:t>....</a:t>
            </a:r>
            <a:endParaRPr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Starting a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431967" cy="4525963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sz="2800" dirty="0"/>
              <a:t>Today I would like to talk about…</a:t>
            </a:r>
            <a:endParaRPr lang="es-ES" sz="2800" dirty="0"/>
          </a:p>
          <a:p>
            <a:pPr>
              <a:defRPr sz="2400"/>
            </a:pPr>
            <a:r>
              <a:rPr lang="es-ES" sz="2800" strike="sngStrike" dirty="0">
                <a:solidFill>
                  <a:srgbClr val="C00000"/>
                </a:solidFill>
              </a:rPr>
              <a:t>Hiya, </a:t>
            </a:r>
            <a:r>
              <a:rPr lang="es-ES" sz="2800" strike="sngStrike" dirty="0" err="1">
                <a:solidFill>
                  <a:srgbClr val="C00000"/>
                </a:solidFill>
              </a:rPr>
              <a:t>I’m</a:t>
            </a:r>
            <a:r>
              <a:rPr lang="es-ES" sz="2800" strike="sngStrike" dirty="0">
                <a:solidFill>
                  <a:srgbClr val="C00000"/>
                </a:solidFill>
              </a:rPr>
              <a:t> </a:t>
            </a:r>
            <a:r>
              <a:rPr lang="es-ES" sz="2800" strike="sngStrike" dirty="0" err="1">
                <a:solidFill>
                  <a:srgbClr val="C00000"/>
                </a:solidFill>
              </a:rPr>
              <a:t>gonna</a:t>
            </a:r>
            <a:r>
              <a:rPr lang="es-ES" sz="2800" strike="sngStrike" dirty="0">
                <a:solidFill>
                  <a:srgbClr val="C00000"/>
                </a:solidFill>
              </a:rPr>
              <a:t> </a:t>
            </a:r>
            <a:r>
              <a:rPr lang="es-ES" sz="2800" strike="sngStrike" dirty="0" err="1">
                <a:solidFill>
                  <a:srgbClr val="C00000"/>
                </a:solidFill>
              </a:rPr>
              <a:t>tell</a:t>
            </a:r>
            <a:r>
              <a:rPr lang="es-ES" sz="2800" strike="sngStrike" dirty="0">
                <a:solidFill>
                  <a:srgbClr val="C00000"/>
                </a:solidFill>
              </a:rPr>
              <a:t> </a:t>
            </a:r>
            <a:r>
              <a:rPr lang="es-ES" sz="2800" strike="sngStrike" dirty="0" err="1">
                <a:solidFill>
                  <a:srgbClr val="C00000"/>
                </a:solidFill>
              </a:rPr>
              <a:t>you</a:t>
            </a:r>
            <a:r>
              <a:rPr lang="es-ES" sz="2800" strike="sngStrike" dirty="0">
                <a:solidFill>
                  <a:srgbClr val="C00000"/>
                </a:solidFill>
              </a:rPr>
              <a:t> </a:t>
            </a:r>
            <a:r>
              <a:rPr lang="es-ES" sz="2800" strike="sngStrike" dirty="0" err="1">
                <a:solidFill>
                  <a:srgbClr val="C00000"/>
                </a:solidFill>
              </a:rPr>
              <a:t>about</a:t>
            </a:r>
            <a:r>
              <a:rPr lang="es-ES" sz="2800" strike="sngStrike" dirty="0">
                <a:solidFill>
                  <a:srgbClr val="C00000"/>
                </a:solidFill>
              </a:rPr>
              <a:t> </a:t>
            </a:r>
            <a:r>
              <a:rPr lang="es-ES" sz="2800" strike="sngStrike" dirty="0" err="1">
                <a:solidFill>
                  <a:srgbClr val="C00000"/>
                </a:solidFill>
              </a:rPr>
              <a:t>my</a:t>
            </a:r>
            <a:r>
              <a:rPr lang="es-ES" sz="2800" strike="sngStrike" dirty="0">
                <a:solidFill>
                  <a:srgbClr val="C00000"/>
                </a:solidFill>
              </a:rPr>
              <a:t> </a:t>
            </a:r>
            <a:r>
              <a:rPr lang="es-ES" sz="2800" strike="sngStrike" dirty="0" err="1">
                <a:solidFill>
                  <a:srgbClr val="C00000"/>
                </a:solidFill>
              </a:rPr>
              <a:t>research</a:t>
            </a:r>
            <a:endParaRPr sz="2800" strike="sngStrike" dirty="0">
              <a:solidFill>
                <a:srgbClr val="C00000"/>
              </a:solidFill>
            </a:endParaRPr>
          </a:p>
          <a:p>
            <a:pPr>
              <a:defRPr sz="2400"/>
            </a:pPr>
            <a:r>
              <a:rPr sz="2800" strike="sngStrike" dirty="0">
                <a:solidFill>
                  <a:srgbClr val="C00000"/>
                </a:solidFill>
              </a:rPr>
              <a:t>This presentation examines…</a:t>
            </a:r>
          </a:p>
          <a:p>
            <a:pPr>
              <a:defRPr sz="2400"/>
            </a:pPr>
            <a:r>
              <a:rPr sz="2800" dirty="0"/>
              <a:t>My research focuses on…</a:t>
            </a:r>
          </a:p>
          <a:p>
            <a:pPr>
              <a:defRPr sz="2400"/>
            </a:pPr>
            <a:r>
              <a:rPr sz="2800" strike="sngStrike" dirty="0">
                <a:solidFill>
                  <a:srgbClr val="C00000"/>
                </a:solidFill>
              </a:rPr>
              <a:t>The aim of this study is to…</a:t>
            </a:r>
            <a:endParaRPr lang="es-ES" sz="2800" strike="sngStrike" dirty="0">
              <a:solidFill>
                <a:srgbClr val="C00000"/>
              </a:solidFill>
            </a:endParaRPr>
          </a:p>
          <a:p>
            <a:pPr>
              <a:defRPr sz="2400"/>
            </a:pPr>
            <a:r>
              <a:rPr lang="es-ES" sz="2800" dirty="0"/>
              <a:t>Good </a:t>
            </a:r>
            <a:r>
              <a:rPr lang="es-ES" sz="2800" dirty="0" err="1"/>
              <a:t>morning</a:t>
            </a:r>
            <a:r>
              <a:rPr lang="es-ES" sz="2800" dirty="0"/>
              <a:t>, </a:t>
            </a:r>
            <a:r>
              <a:rPr lang="es-ES" sz="2800" dirty="0" err="1"/>
              <a:t>my</a:t>
            </a:r>
            <a:r>
              <a:rPr lang="es-ES" sz="2800" dirty="0"/>
              <a:t> </a:t>
            </a:r>
            <a:r>
              <a:rPr lang="es-ES" sz="2800" dirty="0" err="1"/>
              <a:t>name’s</a:t>
            </a:r>
            <a:r>
              <a:rPr lang="es-ES" sz="2800" dirty="0"/>
              <a:t> Katie and </a:t>
            </a:r>
            <a:r>
              <a:rPr lang="es-ES" sz="2800" dirty="0" err="1"/>
              <a:t>I’d</a:t>
            </a:r>
            <a:r>
              <a:rPr lang="es-ES" sz="2800" dirty="0"/>
              <a:t> </a:t>
            </a:r>
            <a:r>
              <a:rPr lang="es-ES" sz="2800" dirty="0" err="1"/>
              <a:t>like</a:t>
            </a:r>
            <a:r>
              <a:rPr lang="es-ES" sz="2800" dirty="0"/>
              <a:t> </a:t>
            </a:r>
            <a:r>
              <a:rPr lang="es-ES" sz="2800" dirty="0" err="1"/>
              <a:t>to</a:t>
            </a:r>
            <a:r>
              <a:rPr lang="es-ES" sz="2800" dirty="0"/>
              <a:t> </a:t>
            </a:r>
            <a:r>
              <a:rPr lang="es-ES" sz="2800" dirty="0" err="1"/>
              <a:t>talk</a:t>
            </a:r>
            <a:r>
              <a:rPr lang="es-ES" sz="2800" dirty="0"/>
              <a:t> </a:t>
            </a:r>
            <a:r>
              <a:rPr lang="es-ES" sz="2800" dirty="0" err="1"/>
              <a:t>to</a:t>
            </a:r>
            <a:r>
              <a:rPr lang="es-ES" sz="2800" dirty="0"/>
              <a:t> </a:t>
            </a:r>
            <a:r>
              <a:rPr lang="es-ES" sz="2800" dirty="0" err="1"/>
              <a:t>you</a:t>
            </a:r>
            <a:r>
              <a:rPr lang="es-ES" sz="2800" dirty="0"/>
              <a:t> </a:t>
            </a:r>
            <a:r>
              <a:rPr lang="es-ES" sz="2800" dirty="0" err="1"/>
              <a:t>about</a:t>
            </a:r>
            <a:r>
              <a:rPr lang="es-ES" sz="2800" dirty="0"/>
              <a:t>....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2430363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/>
            </a:pPr>
            <a:r>
              <a:rPr sz="2800" dirty="0"/>
              <a:t>Speak clearly and slightly slower than normal conversation</a:t>
            </a:r>
          </a:p>
          <a:p>
            <a:pPr>
              <a:defRPr sz="2400"/>
            </a:pPr>
            <a:r>
              <a:rPr sz="2800" dirty="0"/>
              <a:t>Pause between ideas</a:t>
            </a:r>
          </a:p>
          <a:p>
            <a:pPr>
              <a:defRPr sz="2400"/>
            </a:pPr>
            <a:r>
              <a:rPr sz="2800" dirty="0" err="1"/>
              <a:t>Emphasise</a:t>
            </a:r>
            <a:r>
              <a:rPr sz="2800" dirty="0"/>
              <a:t> key points</a:t>
            </a:r>
          </a:p>
          <a:p>
            <a:pPr>
              <a:defRPr sz="2400"/>
            </a:pPr>
            <a:r>
              <a:rPr sz="2800" dirty="0"/>
              <a:t>Avoid reading slides</a:t>
            </a:r>
            <a:endParaRPr lang="es-ES" sz="2800" dirty="0"/>
          </a:p>
          <a:p>
            <a:pPr>
              <a:defRPr sz="2400"/>
            </a:pPr>
            <a:r>
              <a:rPr lang="es-ES" sz="2800" dirty="0" err="1"/>
              <a:t>Practice</a:t>
            </a:r>
            <a:r>
              <a:rPr lang="es-ES" sz="2800" dirty="0"/>
              <a:t> </a:t>
            </a:r>
            <a:r>
              <a:rPr lang="es-ES" sz="2800" dirty="0" err="1"/>
              <a:t>makes</a:t>
            </a:r>
            <a:r>
              <a:rPr lang="es-ES" sz="2800" dirty="0"/>
              <a:t> </a:t>
            </a:r>
            <a:r>
              <a:rPr lang="es-ES" sz="2800" dirty="0" err="1"/>
              <a:t>perfect</a:t>
            </a:r>
            <a:r>
              <a:rPr lang="es-ES" sz="2800" dirty="0"/>
              <a:t>!</a:t>
            </a:r>
          </a:p>
          <a:p>
            <a:pPr>
              <a:defRPr sz="2400"/>
            </a:pPr>
            <a:r>
              <a:rPr lang="es-ES" sz="2800" dirty="0"/>
              <a:t>Try </a:t>
            </a:r>
            <a:r>
              <a:rPr lang="es-ES" sz="2800" dirty="0" err="1"/>
              <a:t>recording</a:t>
            </a:r>
            <a:r>
              <a:rPr lang="es-ES" sz="2800" dirty="0"/>
              <a:t> </a:t>
            </a:r>
            <a:r>
              <a:rPr lang="es-ES" sz="2800" dirty="0" err="1"/>
              <a:t>yourself</a:t>
            </a:r>
            <a:endParaRPr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rPr dirty="0"/>
              <a:t>Typical mistakes speakers make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/>
            </a:pPr>
            <a:r>
              <a:rPr sz="2800" dirty="0"/>
              <a:t>Reading slides word for word</a:t>
            </a:r>
          </a:p>
          <a:p>
            <a:pPr>
              <a:defRPr sz="2400"/>
            </a:pPr>
            <a:r>
              <a:rPr sz="2800" dirty="0"/>
              <a:t>Speaking too quickly when nervous</a:t>
            </a:r>
          </a:p>
          <a:p>
            <a:pPr>
              <a:defRPr sz="2400"/>
            </a:pPr>
            <a:r>
              <a:rPr sz="2800" dirty="0"/>
              <a:t>Using very long sentences</a:t>
            </a:r>
          </a:p>
          <a:p>
            <a:pPr>
              <a:defRPr sz="2400"/>
            </a:pPr>
            <a:r>
              <a:rPr sz="2800" dirty="0"/>
              <a:t>Lack of signposting language</a:t>
            </a:r>
          </a:p>
          <a:p>
            <a:pPr>
              <a:defRPr sz="2400"/>
            </a:pPr>
            <a:r>
              <a:rPr sz="2800" dirty="0"/>
              <a:t>Direct translation from Spanish structures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1D1B1-6078-B284-0C3A-E44753D20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about the feared </a:t>
            </a:r>
            <a:r>
              <a:rPr lang="en-GB" b="1" dirty="0">
                <a:solidFill>
                  <a:srgbClr val="C00000"/>
                </a:solidFill>
              </a:rPr>
              <a:t>questions?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00912E-3CEF-9DAE-5EDA-38DDF779A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Usually and extra 10 minutes given over to questions</a:t>
            </a:r>
          </a:p>
          <a:p>
            <a:endParaRPr lang="en-GB" dirty="0"/>
          </a:p>
          <a:p>
            <a:r>
              <a:rPr lang="en-GB" dirty="0"/>
              <a:t>This is the part of a presentation we can’t entirely control and is the most feared</a:t>
            </a:r>
          </a:p>
        </p:txBody>
      </p:sp>
    </p:spTree>
    <p:extLst>
      <p:ext uri="{BB962C8B-B14F-4D97-AF65-F5344CB8AC3E}">
        <p14:creationId xmlns:p14="http://schemas.microsoft.com/office/powerpoint/2010/main" val="36003545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A411F9-CB9E-856B-13A7-A4F79F9B1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177" y="860612"/>
            <a:ext cx="8229600" cy="4525963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What if I don’t understand the question?</a:t>
            </a:r>
          </a:p>
          <a:p>
            <a:pPr algn="ctr"/>
            <a:r>
              <a:rPr lang="en-GB" dirty="0">
                <a:solidFill>
                  <a:srgbClr val="C00000"/>
                </a:solidFill>
              </a:rPr>
              <a:t>What if I just don’t know the answer?</a:t>
            </a:r>
          </a:p>
          <a:p>
            <a:pPr algn="ctr"/>
            <a:r>
              <a:rPr lang="en-GB" dirty="0">
                <a:solidFill>
                  <a:srgbClr val="C00000"/>
                </a:solidFill>
              </a:rPr>
              <a:t>What if they try to trip me up?</a:t>
            </a:r>
          </a:p>
          <a:p>
            <a:pPr algn="ctr"/>
            <a:endParaRPr lang="en-GB" dirty="0">
              <a:solidFill>
                <a:srgbClr val="C00000"/>
              </a:solidFill>
            </a:endParaRPr>
          </a:p>
          <a:p>
            <a:pPr algn="ctr"/>
            <a:endParaRPr lang="en-GB" dirty="0"/>
          </a:p>
        </p:txBody>
      </p:sp>
      <p:pic>
        <p:nvPicPr>
          <p:cNvPr id="1026" name="Picture 2" descr="YARN | DRAMATIC BECAUSE YOU DON'T KNOW THE ANSWER! | My Cousin Vinny (1992)  | Video clips by quotes | 270451b4 | 紗">
            <a:extLst>
              <a:ext uri="{FF2B5EF4-FFF2-40B4-BE49-F238E27FC236}">
                <a16:creationId xmlns:a16="http://schemas.microsoft.com/office/drawing/2014/main" id="{2B5196FD-D0EB-BF52-7E70-0304DDA21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7000"/>
                    </a14:imgEffect>
                    <a14:imgEffect>
                      <a14:brightnessContrast bright="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647" y="3255682"/>
            <a:ext cx="6024706" cy="3266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76803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FA9B4F-1626-5D29-D8BE-B968CDC24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31837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C00000"/>
                </a:solidFill>
              </a:rPr>
              <a:t>What if I don’t understand the question?</a:t>
            </a:r>
            <a:br>
              <a:rPr lang="en-GB" dirty="0">
                <a:solidFill>
                  <a:srgbClr val="C00000"/>
                </a:solidFill>
              </a:rPr>
            </a:br>
            <a:endParaRPr lang="en-GB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885BE9-EA34-510A-6B28-A2F55294B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74837"/>
            <a:ext cx="8229600" cy="425132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/>
              <a:t>No shame in asking for the question to be repeated, rephrased, reformulated, explained more clearly.</a:t>
            </a:r>
          </a:p>
          <a:p>
            <a:pPr marL="0" indent="0">
              <a:buNone/>
            </a:pPr>
            <a:endParaRPr lang="en-GB" dirty="0"/>
          </a:p>
          <a:p>
            <a:r>
              <a:rPr lang="es-ES" dirty="0"/>
              <a:t>“</a:t>
            </a:r>
            <a:r>
              <a:rPr lang="es-ES" dirty="0" err="1"/>
              <a:t>If</a:t>
            </a:r>
            <a:r>
              <a:rPr lang="es-ES" dirty="0"/>
              <a:t> I </a:t>
            </a:r>
            <a:r>
              <a:rPr lang="es-ES" dirty="0" err="1"/>
              <a:t>understand</a:t>
            </a:r>
            <a:r>
              <a:rPr lang="es-ES" dirty="0"/>
              <a:t> </a:t>
            </a:r>
            <a:r>
              <a:rPr lang="es-ES" dirty="0" err="1"/>
              <a:t>correctly</a:t>
            </a:r>
            <a:r>
              <a:rPr lang="es-ES" dirty="0"/>
              <a:t>, </a:t>
            </a:r>
            <a:r>
              <a:rPr lang="es-ES" dirty="0" err="1"/>
              <a:t>you’re</a:t>
            </a:r>
            <a:r>
              <a:rPr lang="es-ES" dirty="0"/>
              <a:t> </a:t>
            </a:r>
            <a:r>
              <a:rPr lang="es-ES" dirty="0" err="1"/>
              <a:t>asking</a:t>
            </a:r>
            <a:r>
              <a:rPr lang="es-ES" dirty="0"/>
              <a:t> </a:t>
            </a:r>
            <a:r>
              <a:rPr lang="es-ES" dirty="0" err="1"/>
              <a:t>about</a:t>
            </a:r>
            <a:r>
              <a:rPr lang="es-ES" dirty="0"/>
              <a:t>…”</a:t>
            </a:r>
          </a:p>
          <a:p>
            <a:r>
              <a:rPr lang="es-ES" dirty="0"/>
              <a:t>“Do </a:t>
            </a:r>
            <a:r>
              <a:rPr lang="es-ES" dirty="0" err="1"/>
              <a:t>you</a:t>
            </a:r>
            <a:r>
              <a:rPr lang="es-ES" dirty="0"/>
              <a:t> mean in </a:t>
            </a:r>
            <a:r>
              <a:rPr lang="es-ES" dirty="0" err="1"/>
              <a:t>relation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…?”</a:t>
            </a:r>
          </a:p>
          <a:p>
            <a:r>
              <a:rPr lang="es-ES" dirty="0"/>
              <a:t>“</a:t>
            </a:r>
            <a:r>
              <a:rPr lang="es-ES" dirty="0" err="1"/>
              <a:t>Let</a:t>
            </a:r>
            <a:r>
              <a:rPr lang="es-ES" dirty="0"/>
              <a:t> me </a:t>
            </a:r>
            <a:r>
              <a:rPr lang="es-ES" dirty="0" err="1"/>
              <a:t>think</a:t>
            </a:r>
            <a:r>
              <a:rPr lang="es-ES" dirty="0"/>
              <a:t> </a:t>
            </a:r>
            <a:r>
              <a:rPr lang="es-ES" dirty="0" err="1"/>
              <a:t>about</a:t>
            </a:r>
            <a:r>
              <a:rPr lang="es-ES" dirty="0"/>
              <a:t> </a:t>
            </a:r>
            <a:r>
              <a:rPr lang="es-ES" dirty="0" err="1"/>
              <a:t>that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a </a:t>
            </a:r>
            <a:r>
              <a:rPr lang="es-ES" dirty="0" err="1"/>
              <a:t>moment</a:t>
            </a:r>
            <a:r>
              <a:rPr lang="es-ES" dirty="0"/>
              <a:t>.”</a:t>
            </a:r>
          </a:p>
          <a:p>
            <a:r>
              <a:rPr lang="en-GB" dirty="0"/>
              <a:t>Focus on willingness and honesty</a:t>
            </a:r>
          </a:p>
        </p:txBody>
      </p:sp>
    </p:spTree>
    <p:extLst>
      <p:ext uri="{BB962C8B-B14F-4D97-AF65-F5344CB8AC3E}">
        <p14:creationId xmlns:p14="http://schemas.microsoft.com/office/powerpoint/2010/main" val="2460325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F5AFE9-654D-8630-86A7-AB2174DB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rgbClr val="C00000"/>
                </a:solidFill>
              </a:rPr>
              <a:t>What if I just don’t know the answer?</a:t>
            </a:r>
            <a:br>
              <a:rPr lang="en-GB" dirty="0">
                <a:solidFill>
                  <a:srgbClr val="C00000"/>
                </a:solidFill>
              </a:rPr>
            </a:br>
            <a:endParaRPr lang="en-GB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C43791-661A-6158-819B-0FBDAC985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715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s-ES" b="0" i="0" u="none" strike="noStrike" dirty="0">
                <a:effectLst/>
                <a:latin typeface="Google Sans"/>
              </a:rPr>
              <a:t>“</a:t>
            </a:r>
            <a:r>
              <a:rPr lang="es-ES" b="0" i="0" u="none" strike="noStrike" dirty="0" err="1">
                <a:effectLst/>
                <a:latin typeface="Google Sans"/>
              </a:rPr>
              <a:t>That’s</a:t>
            </a:r>
            <a:r>
              <a:rPr lang="es-ES" b="0" i="0" u="none" strike="noStrike" dirty="0">
                <a:effectLst/>
                <a:latin typeface="Google Sans"/>
              </a:rPr>
              <a:t> a </a:t>
            </a:r>
            <a:r>
              <a:rPr lang="es-ES" b="0" i="0" u="none" strike="noStrike" dirty="0" err="1">
                <a:effectLst/>
                <a:latin typeface="Google Sans"/>
              </a:rPr>
              <a:t>good</a:t>
            </a:r>
            <a:r>
              <a:rPr lang="es-ES" b="0" i="0" u="none" strike="noStrike" dirty="0">
                <a:effectLst/>
                <a:latin typeface="Google Sans"/>
              </a:rPr>
              <a:t> </a:t>
            </a:r>
            <a:r>
              <a:rPr lang="es-ES" b="0" i="0" u="none" strike="noStrike" dirty="0" err="1">
                <a:effectLst/>
                <a:latin typeface="Google Sans"/>
              </a:rPr>
              <a:t>question</a:t>
            </a:r>
            <a:r>
              <a:rPr lang="es-ES" b="0" i="0" u="none" strike="noStrike" dirty="0">
                <a:effectLst/>
                <a:latin typeface="Google Sans"/>
              </a:rPr>
              <a:t>; I </a:t>
            </a:r>
            <a:r>
              <a:rPr lang="es-ES" b="0" i="0" u="none" strike="noStrike" dirty="0" err="1">
                <a:effectLst/>
                <a:latin typeface="Google Sans"/>
              </a:rPr>
              <a:t>want</a:t>
            </a:r>
            <a:r>
              <a:rPr lang="es-ES" b="0" i="0" u="none" strike="noStrike" dirty="0">
                <a:effectLst/>
                <a:latin typeface="Google Sans"/>
              </a:rPr>
              <a:t> </a:t>
            </a:r>
            <a:r>
              <a:rPr lang="es-ES" b="0" i="0" u="none" strike="noStrike" dirty="0" err="1">
                <a:effectLst/>
                <a:latin typeface="Google Sans"/>
              </a:rPr>
              <a:t>to</a:t>
            </a:r>
            <a:r>
              <a:rPr lang="es-ES" b="0" i="0" u="none" strike="noStrike" dirty="0">
                <a:effectLst/>
                <a:latin typeface="Google Sans"/>
              </a:rPr>
              <a:t> look </a:t>
            </a:r>
            <a:r>
              <a:rPr lang="es-ES" b="0" i="0" u="none" strike="noStrike" dirty="0" err="1">
                <a:effectLst/>
                <a:latin typeface="Google Sans"/>
              </a:rPr>
              <a:t>into</a:t>
            </a:r>
            <a:r>
              <a:rPr lang="es-ES" b="0" i="0" u="none" strike="noStrike" dirty="0">
                <a:effectLst/>
                <a:latin typeface="Google Sans"/>
              </a:rPr>
              <a:t> </a:t>
            </a:r>
            <a:r>
              <a:rPr lang="es-ES" b="0" i="0" u="none" strike="noStrike" dirty="0" err="1">
                <a:effectLst/>
                <a:latin typeface="Google Sans"/>
              </a:rPr>
              <a:t>that</a:t>
            </a:r>
            <a:r>
              <a:rPr lang="es-ES" b="0" i="0" u="none" strike="noStrike" dirty="0">
                <a:effectLst/>
                <a:latin typeface="Google Sans"/>
              </a:rPr>
              <a:t> </a:t>
            </a:r>
            <a:r>
              <a:rPr lang="es-ES" b="0" i="0" u="none" strike="noStrike" dirty="0" err="1">
                <a:effectLst/>
                <a:latin typeface="Google Sans"/>
              </a:rPr>
              <a:t>further</a:t>
            </a:r>
            <a:r>
              <a:rPr lang="es-ES" b="0" i="0" u="none" strike="noStrike" dirty="0">
                <a:effectLst/>
                <a:latin typeface="Google Sans"/>
              </a:rPr>
              <a:t>" </a:t>
            </a:r>
          </a:p>
          <a:p>
            <a:pPr>
              <a:lnSpc>
                <a:spcPct val="120000"/>
              </a:lnSpc>
            </a:pPr>
            <a:r>
              <a:rPr lang="es-ES" dirty="0"/>
              <a:t>“</a:t>
            </a:r>
            <a:r>
              <a:rPr lang="es-ES" dirty="0" err="1"/>
              <a:t>That’s</a:t>
            </a:r>
            <a:r>
              <a:rPr lang="es-ES" dirty="0"/>
              <a:t> a </a:t>
            </a:r>
            <a:r>
              <a:rPr lang="es-ES" dirty="0" err="1"/>
              <a:t>good</a:t>
            </a:r>
            <a:r>
              <a:rPr lang="es-ES" dirty="0"/>
              <a:t> </a:t>
            </a:r>
            <a:r>
              <a:rPr lang="es-ES" dirty="0" err="1"/>
              <a:t>point</a:t>
            </a:r>
            <a:r>
              <a:rPr lang="es-ES" dirty="0"/>
              <a:t>, and </a:t>
            </a:r>
            <a:r>
              <a:rPr lang="es-ES" dirty="0" err="1"/>
              <a:t>it</a:t>
            </a:r>
            <a:r>
              <a:rPr lang="es-ES" dirty="0"/>
              <a:t> </a:t>
            </a:r>
            <a:r>
              <a:rPr lang="es-ES" dirty="0" err="1"/>
              <a:t>highlights</a:t>
            </a:r>
            <a:r>
              <a:rPr lang="es-ES" dirty="0"/>
              <a:t> a </a:t>
            </a:r>
            <a:r>
              <a:rPr lang="es-ES" dirty="0" err="1"/>
              <a:t>limitation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study</a:t>
            </a:r>
            <a:r>
              <a:rPr lang="es-ES" dirty="0"/>
              <a:t>.”</a:t>
            </a:r>
            <a:endParaRPr lang="es-ES" dirty="0">
              <a:latin typeface="Google Sans"/>
            </a:endParaRPr>
          </a:p>
          <a:p>
            <a:pPr>
              <a:lnSpc>
                <a:spcPct val="120000"/>
              </a:lnSpc>
            </a:pPr>
            <a:r>
              <a:rPr lang="es-ES" b="0" i="0" u="none" strike="noStrike" dirty="0">
                <a:effectLst/>
                <a:latin typeface="Google Sans"/>
              </a:rPr>
              <a:t>"I </a:t>
            </a:r>
            <a:r>
              <a:rPr lang="es-ES" b="0" i="0" u="none" strike="noStrike" dirty="0" err="1">
                <a:effectLst/>
                <a:latin typeface="Google Sans"/>
              </a:rPr>
              <a:t>want</a:t>
            </a:r>
            <a:r>
              <a:rPr lang="es-ES" b="0" i="0" u="none" strike="noStrike" dirty="0">
                <a:effectLst/>
                <a:latin typeface="Google Sans"/>
              </a:rPr>
              <a:t> </a:t>
            </a:r>
            <a:r>
              <a:rPr lang="es-ES" b="0" i="0" u="none" strike="noStrike" dirty="0" err="1">
                <a:effectLst/>
                <a:latin typeface="Google Sans"/>
              </a:rPr>
              <a:t>to</a:t>
            </a:r>
            <a:r>
              <a:rPr lang="es-ES" b="0" i="0" u="none" strike="noStrike" dirty="0">
                <a:effectLst/>
                <a:latin typeface="Google Sans"/>
              </a:rPr>
              <a:t> </a:t>
            </a:r>
            <a:r>
              <a:rPr lang="es-ES" b="0" i="0" u="none" strike="noStrike" dirty="0" err="1">
                <a:effectLst/>
                <a:latin typeface="Google Sans"/>
              </a:rPr>
              <a:t>give</a:t>
            </a:r>
            <a:r>
              <a:rPr lang="es-ES" b="0" i="0" u="none" strike="noStrike" dirty="0">
                <a:effectLst/>
                <a:latin typeface="Google Sans"/>
              </a:rPr>
              <a:t> </a:t>
            </a:r>
            <a:r>
              <a:rPr lang="es-ES" b="0" i="0" u="none" strike="noStrike" dirty="0" err="1">
                <a:effectLst/>
                <a:latin typeface="Google Sans"/>
              </a:rPr>
              <a:t>you</a:t>
            </a:r>
            <a:r>
              <a:rPr lang="es-ES" b="0" i="0" u="none" strike="noStrike" dirty="0">
                <a:effectLst/>
                <a:latin typeface="Google Sans"/>
              </a:rPr>
              <a:t> </a:t>
            </a:r>
            <a:r>
              <a:rPr lang="es-ES" b="0" i="0" u="none" strike="noStrike" dirty="0" err="1">
                <a:effectLst/>
                <a:latin typeface="Google Sans"/>
              </a:rPr>
              <a:t>an</a:t>
            </a:r>
            <a:r>
              <a:rPr lang="es-ES" b="0" i="0" u="none" strike="noStrike" dirty="0">
                <a:effectLst/>
                <a:latin typeface="Google Sans"/>
              </a:rPr>
              <a:t> </a:t>
            </a:r>
            <a:r>
              <a:rPr lang="es-ES" b="0" i="0" u="none" strike="noStrike" dirty="0" err="1">
                <a:effectLst/>
                <a:latin typeface="Google Sans"/>
              </a:rPr>
              <a:t>accurate</a:t>
            </a:r>
            <a:r>
              <a:rPr lang="es-ES" b="0" i="0" u="none" strike="noStrike" dirty="0">
                <a:effectLst/>
                <a:latin typeface="Google Sans"/>
              </a:rPr>
              <a:t> </a:t>
            </a:r>
            <a:r>
              <a:rPr lang="es-ES" b="0" i="0" u="none" strike="noStrike" dirty="0" err="1">
                <a:effectLst/>
                <a:latin typeface="Google Sans"/>
              </a:rPr>
              <a:t>answer</a:t>
            </a:r>
            <a:r>
              <a:rPr lang="es-ES" b="0" i="0" u="none" strike="noStrike" dirty="0">
                <a:effectLst/>
                <a:latin typeface="Google Sans"/>
              </a:rPr>
              <a:t>, so </a:t>
            </a:r>
            <a:r>
              <a:rPr lang="es-ES" b="0" i="0" u="none" strike="noStrike" dirty="0" err="1">
                <a:effectLst/>
                <a:latin typeface="Google Sans"/>
              </a:rPr>
              <a:t>I’d</a:t>
            </a:r>
            <a:r>
              <a:rPr lang="es-ES" b="0" i="0" u="none" strike="noStrike" dirty="0">
                <a:effectLst/>
                <a:latin typeface="Google Sans"/>
              </a:rPr>
              <a:t> </a:t>
            </a:r>
            <a:r>
              <a:rPr lang="es-ES" b="0" i="0" u="none" strike="noStrike" dirty="0" err="1">
                <a:effectLst/>
                <a:latin typeface="Google Sans"/>
              </a:rPr>
              <a:t>like</a:t>
            </a:r>
            <a:r>
              <a:rPr lang="es-ES" b="0" i="0" u="none" strike="noStrike" dirty="0">
                <a:effectLst/>
                <a:latin typeface="Google Sans"/>
              </a:rPr>
              <a:t> </a:t>
            </a:r>
            <a:r>
              <a:rPr lang="es-ES" b="0" i="0" u="none" strike="noStrike" dirty="0" err="1">
                <a:effectLst/>
                <a:latin typeface="Google Sans"/>
              </a:rPr>
              <a:t>to</a:t>
            </a:r>
            <a:r>
              <a:rPr lang="es-ES" b="0" i="0" u="none" strike="noStrike" dirty="0">
                <a:effectLst/>
                <a:latin typeface="Google Sans"/>
              </a:rPr>
              <a:t> </a:t>
            </a:r>
            <a:r>
              <a:rPr lang="es-ES" b="0" i="0" u="none" strike="noStrike" dirty="0" err="1">
                <a:effectLst/>
                <a:latin typeface="Google Sans"/>
              </a:rPr>
              <a:t>check</a:t>
            </a:r>
            <a:r>
              <a:rPr lang="es-ES" b="0" i="0" u="none" strike="noStrike" dirty="0">
                <a:effectLst/>
                <a:latin typeface="Google Sans"/>
              </a:rPr>
              <a:t> </a:t>
            </a:r>
            <a:r>
              <a:rPr lang="es-ES" b="0" i="0" u="none" strike="noStrike" dirty="0" err="1">
                <a:effectLst/>
                <a:latin typeface="Google Sans"/>
              </a:rPr>
              <a:t>my</a:t>
            </a:r>
            <a:r>
              <a:rPr lang="es-ES" b="0" i="0" u="none" strike="noStrike" dirty="0">
                <a:effectLst/>
                <a:latin typeface="Google Sans"/>
              </a:rPr>
              <a:t> notes/</a:t>
            </a:r>
            <a:r>
              <a:rPr lang="es-ES" b="0" i="0" u="none" strike="noStrike" dirty="0" err="1">
                <a:effectLst/>
                <a:latin typeface="Google Sans"/>
              </a:rPr>
              <a:t>the</a:t>
            </a:r>
            <a:r>
              <a:rPr lang="es-ES" b="0" i="0" u="none" strike="noStrike" dirty="0">
                <a:effectLst/>
                <a:latin typeface="Google Sans"/>
              </a:rPr>
              <a:t> data </a:t>
            </a:r>
            <a:r>
              <a:rPr lang="es-ES" b="0" i="0" u="none" strike="noStrike" dirty="0" err="1">
                <a:effectLst/>
                <a:latin typeface="Google Sans"/>
              </a:rPr>
              <a:t>first</a:t>
            </a:r>
            <a:r>
              <a:rPr lang="es-ES" b="0" i="0" u="none" strike="noStrike" dirty="0">
                <a:effectLst/>
                <a:latin typeface="Google Sans"/>
              </a:rPr>
              <a:t>”</a:t>
            </a:r>
          </a:p>
          <a:p>
            <a:pPr>
              <a:lnSpc>
                <a:spcPct val="120000"/>
              </a:lnSpc>
            </a:pPr>
            <a:r>
              <a:rPr lang="es-ES" dirty="0"/>
              <a:t>“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something</a:t>
            </a:r>
            <a:r>
              <a:rPr lang="es-ES" dirty="0"/>
              <a:t> </a:t>
            </a:r>
            <a:r>
              <a:rPr lang="es-ES" dirty="0" err="1"/>
              <a:t>that</a:t>
            </a:r>
            <a:r>
              <a:rPr lang="es-ES" dirty="0"/>
              <a:t> </a:t>
            </a:r>
            <a:r>
              <a:rPr lang="es-ES" dirty="0" err="1"/>
              <a:t>would</a:t>
            </a:r>
            <a:r>
              <a:rPr lang="es-ES" dirty="0"/>
              <a:t> </a:t>
            </a:r>
            <a:r>
              <a:rPr lang="es-ES" dirty="0" err="1"/>
              <a:t>need</a:t>
            </a:r>
            <a:r>
              <a:rPr lang="es-ES" dirty="0"/>
              <a:t> </a:t>
            </a:r>
            <a:r>
              <a:rPr lang="es-ES" dirty="0" err="1"/>
              <a:t>further</a:t>
            </a:r>
            <a:r>
              <a:rPr lang="es-ES" dirty="0"/>
              <a:t> </a:t>
            </a:r>
            <a:r>
              <a:rPr lang="es-ES" dirty="0" err="1"/>
              <a:t>research</a:t>
            </a:r>
            <a:r>
              <a:rPr lang="es-ES" dirty="0"/>
              <a:t>.”</a:t>
            </a:r>
            <a:endParaRPr lang="es-ES" b="0" i="0" u="none" strike="noStrike" dirty="0">
              <a:effectLst/>
              <a:latin typeface="Google Sans"/>
            </a:endParaRP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Google Sans"/>
              </a:rPr>
              <a:t>"</a:t>
            </a:r>
            <a:r>
              <a:rPr lang="es-ES" b="0" i="0" dirty="0" err="1">
                <a:effectLst/>
                <a:latin typeface="Google Sans"/>
              </a:rPr>
              <a:t>That</a:t>
            </a:r>
            <a:r>
              <a:rPr lang="es-ES" b="0" i="0" dirty="0">
                <a:effectLst/>
                <a:latin typeface="Google Sans"/>
              </a:rPr>
              <a:t> </a:t>
            </a:r>
            <a:r>
              <a:rPr lang="es-ES" b="0" i="0" dirty="0" err="1">
                <a:effectLst/>
                <a:latin typeface="Google Sans"/>
              </a:rPr>
              <a:t>is</a:t>
            </a:r>
            <a:r>
              <a:rPr lang="es-ES" b="0" i="0" dirty="0">
                <a:effectLst/>
                <a:latin typeface="Google Sans"/>
              </a:rPr>
              <a:t> </a:t>
            </a:r>
            <a:r>
              <a:rPr lang="es-ES" b="0" i="0" dirty="0" err="1">
                <a:effectLst/>
                <a:latin typeface="Google Sans"/>
              </a:rPr>
              <a:t>not</a:t>
            </a:r>
            <a:r>
              <a:rPr lang="es-ES" b="0" i="0" dirty="0">
                <a:effectLst/>
                <a:latin typeface="Google Sans"/>
              </a:rPr>
              <a:t> </a:t>
            </a:r>
            <a:r>
              <a:rPr lang="es-ES" b="0" i="0" dirty="0" err="1">
                <a:effectLst/>
                <a:latin typeface="Google Sans"/>
              </a:rPr>
              <a:t>within</a:t>
            </a:r>
            <a:r>
              <a:rPr lang="es-ES" b="0" i="0" dirty="0">
                <a:effectLst/>
                <a:latin typeface="Google Sans"/>
              </a:rPr>
              <a:t> </a:t>
            </a:r>
            <a:r>
              <a:rPr lang="es-ES" b="0" i="0" dirty="0" err="1">
                <a:effectLst/>
                <a:latin typeface="Google Sans"/>
              </a:rPr>
              <a:t>my</a:t>
            </a:r>
            <a:r>
              <a:rPr lang="es-ES" b="0" i="0" dirty="0">
                <a:effectLst/>
                <a:latin typeface="Google Sans"/>
              </a:rPr>
              <a:t> </a:t>
            </a:r>
            <a:r>
              <a:rPr lang="es-ES" b="0" i="0" dirty="0" err="1">
                <a:effectLst/>
                <a:latin typeface="Google Sans"/>
              </a:rPr>
              <a:t>area</a:t>
            </a:r>
            <a:r>
              <a:rPr lang="es-ES" b="0" i="0" dirty="0">
                <a:effectLst/>
                <a:latin typeface="Google Sans"/>
              </a:rPr>
              <a:t> </a:t>
            </a:r>
            <a:r>
              <a:rPr lang="es-ES" b="0" i="0" dirty="0" err="1">
                <a:effectLst/>
                <a:latin typeface="Google Sans"/>
              </a:rPr>
              <a:t>of</a:t>
            </a:r>
            <a:r>
              <a:rPr lang="es-ES" b="0" i="0" dirty="0">
                <a:effectLst/>
                <a:latin typeface="Google Sans"/>
              </a:rPr>
              <a:t> </a:t>
            </a:r>
            <a:r>
              <a:rPr lang="es-ES" b="0" i="0" dirty="0" err="1">
                <a:effectLst/>
                <a:latin typeface="Google Sans"/>
              </a:rPr>
              <a:t>expertise</a:t>
            </a:r>
            <a:r>
              <a:rPr lang="es-ES" b="0" i="0" dirty="0">
                <a:effectLst/>
                <a:latin typeface="Google Sans"/>
              </a:rPr>
              <a:t>, </a:t>
            </a:r>
            <a:r>
              <a:rPr lang="es-ES" b="0" i="0" dirty="0" err="1">
                <a:effectLst/>
                <a:latin typeface="Google Sans"/>
              </a:rPr>
              <a:t>but</a:t>
            </a:r>
            <a:r>
              <a:rPr lang="es-ES" b="0" i="0" dirty="0">
                <a:effectLst/>
                <a:latin typeface="Google Sans"/>
              </a:rPr>
              <a:t> I can </a:t>
            </a:r>
            <a:r>
              <a:rPr lang="es-ES" b="0" i="0" dirty="0" err="1">
                <a:effectLst/>
                <a:latin typeface="Google Sans"/>
              </a:rPr>
              <a:t>connect</a:t>
            </a:r>
            <a:r>
              <a:rPr lang="es-ES" b="0" i="0" dirty="0">
                <a:effectLst/>
                <a:latin typeface="Google Sans"/>
              </a:rPr>
              <a:t> </a:t>
            </a:r>
            <a:r>
              <a:rPr lang="es-ES" b="0" i="0" dirty="0" err="1">
                <a:effectLst/>
                <a:latin typeface="Google Sans"/>
              </a:rPr>
              <a:t>you</a:t>
            </a:r>
            <a:r>
              <a:rPr lang="es-ES" b="0" i="0" dirty="0">
                <a:effectLst/>
                <a:latin typeface="Google Sans"/>
              </a:rPr>
              <a:t> </a:t>
            </a:r>
            <a:r>
              <a:rPr lang="es-ES" b="0" i="0" dirty="0" err="1">
                <a:effectLst/>
                <a:latin typeface="Google Sans"/>
              </a:rPr>
              <a:t>with</a:t>
            </a:r>
            <a:r>
              <a:rPr lang="es-ES" b="0" i="0" dirty="0">
                <a:effectLst/>
                <a:latin typeface="Google Sans"/>
              </a:rPr>
              <a:t> </a:t>
            </a:r>
            <a:r>
              <a:rPr lang="es-ES" b="0" i="0" dirty="0" err="1">
                <a:effectLst/>
                <a:latin typeface="Google Sans"/>
              </a:rPr>
              <a:t>someone</a:t>
            </a:r>
            <a:r>
              <a:rPr lang="es-ES" b="0" i="0" dirty="0">
                <a:effectLst/>
                <a:latin typeface="Google Sans"/>
              </a:rPr>
              <a:t> </a:t>
            </a:r>
            <a:r>
              <a:rPr lang="es-ES" b="0" i="0" dirty="0" err="1">
                <a:effectLst/>
                <a:latin typeface="Google Sans"/>
              </a:rPr>
              <a:t>who</a:t>
            </a:r>
            <a:r>
              <a:rPr lang="es-ES" b="0" i="0" dirty="0">
                <a:effectLst/>
                <a:latin typeface="Google Sans"/>
              </a:rPr>
              <a:t> </a:t>
            </a:r>
            <a:r>
              <a:rPr lang="es-ES" b="0" i="0" dirty="0" err="1">
                <a:effectLst/>
                <a:latin typeface="Google Sans"/>
              </a:rPr>
              <a:t>knows</a:t>
            </a:r>
            <a:r>
              <a:rPr lang="es-ES" b="0" i="0" dirty="0">
                <a:effectLst/>
                <a:latin typeface="Google Sans"/>
              </a:rPr>
              <a:t> more".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Google Sans"/>
              </a:rPr>
              <a:t>"I </a:t>
            </a:r>
            <a:r>
              <a:rPr lang="es-ES" b="0" i="0" dirty="0" err="1">
                <a:effectLst/>
                <a:latin typeface="Google Sans"/>
              </a:rPr>
              <a:t>don't</a:t>
            </a:r>
            <a:r>
              <a:rPr lang="es-ES" b="0" i="0" dirty="0">
                <a:effectLst/>
                <a:latin typeface="Google Sans"/>
              </a:rPr>
              <a:t> </a:t>
            </a:r>
            <a:r>
              <a:rPr lang="es-ES" b="0" i="0" dirty="0" err="1">
                <a:effectLst/>
                <a:latin typeface="Google Sans"/>
              </a:rPr>
              <a:t>have</a:t>
            </a:r>
            <a:r>
              <a:rPr lang="es-ES" b="0" i="0" dirty="0">
                <a:effectLst/>
                <a:latin typeface="Google Sans"/>
              </a:rPr>
              <a:t> </a:t>
            </a:r>
            <a:r>
              <a:rPr lang="es-ES" b="0" i="0" dirty="0" err="1">
                <a:effectLst/>
                <a:latin typeface="Google Sans"/>
              </a:rPr>
              <a:t>the</a:t>
            </a:r>
            <a:r>
              <a:rPr lang="es-ES" b="0" i="0" dirty="0">
                <a:effectLst/>
                <a:latin typeface="Google Sans"/>
              </a:rPr>
              <a:t> complete </a:t>
            </a:r>
            <a:r>
              <a:rPr lang="es-ES" b="0" i="0" dirty="0" err="1">
                <a:effectLst/>
                <a:latin typeface="Google Sans"/>
              </a:rPr>
              <a:t>answer</a:t>
            </a:r>
            <a:r>
              <a:rPr lang="es-ES" b="0" i="0" dirty="0">
                <a:effectLst/>
                <a:latin typeface="Google Sans"/>
              </a:rPr>
              <a:t> </a:t>
            </a:r>
            <a:r>
              <a:rPr lang="es-ES" b="0" i="0" dirty="0" err="1">
                <a:effectLst/>
                <a:latin typeface="Google Sans"/>
              </a:rPr>
              <a:t>now</a:t>
            </a:r>
            <a:r>
              <a:rPr lang="es-ES" b="0" i="0" dirty="0">
                <a:effectLst/>
                <a:latin typeface="Google Sans"/>
              </a:rPr>
              <a:t>, </a:t>
            </a:r>
            <a:r>
              <a:rPr lang="es-ES" b="0" i="0" dirty="0" err="1">
                <a:effectLst/>
                <a:latin typeface="Google Sans"/>
              </a:rPr>
              <a:t>but</a:t>
            </a:r>
            <a:r>
              <a:rPr lang="es-ES" b="0" i="0" dirty="0">
                <a:effectLst/>
                <a:latin typeface="Google Sans"/>
              </a:rPr>
              <a:t> </a:t>
            </a:r>
            <a:r>
              <a:rPr lang="es-ES" b="0" i="0" dirty="0" err="1">
                <a:effectLst/>
                <a:latin typeface="Google Sans"/>
              </a:rPr>
              <a:t>here</a:t>
            </a:r>
            <a:r>
              <a:rPr lang="es-ES" b="0" i="0" dirty="0">
                <a:effectLst/>
                <a:latin typeface="Google Sans"/>
              </a:rPr>
              <a:t> </a:t>
            </a:r>
            <a:r>
              <a:rPr lang="es-ES" b="0" i="0" dirty="0" err="1">
                <a:effectLst/>
                <a:latin typeface="Google Sans"/>
              </a:rPr>
              <a:t>is</a:t>
            </a:r>
            <a:r>
              <a:rPr lang="es-ES" b="0" i="0" dirty="0">
                <a:effectLst/>
                <a:latin typeface="Google Sans"/>
              </a:rPr>
              <a:t> </a:t>
            </a:r>
            <a:r>
              <a:rPr lang="es-ES" b="0" i="0" dirty="0" err="1">
                <a:effectLst/>
                <a:latin typeface="Google Sans"/>
              </a:rPr>
              <a:t>what</a:t>
            </a:r>
            <a:r>
              <a:rPr lang="es-ES" b="0" i="0" dirty="0">
                <a:effectLst/>
                <a:latin typeface="Google Sans"/>
              </a:rPr>
              <a:t> I </a:t>
            </a:r>
            <a:r>
              <a:rPr lang="es-ES" b="0" i="0" dirty="0" err="1">
                <a:effectLst/>
                <a:latin typeface="Google Sans"/>
              </a:rPr>
              <a:t>know</a:t>
            </a:r>
            <a:r>
              <a:rPr lang="es-ES" b="0" i="0" dirty="0">
                <a:effectLst/>
                <a:latin typeface="Google Sans"/>
              </a:rPr>
              <a:t> so </a:t>
            </a:r>
            <a:r>
              <a:rPr lang="es-ES" b="0" i="0" dirty="0" err="1">
                <a:effectLst/>
                <a:latin typeface="Google Sans"/>
              </a:rPr>
              <a:t>far</a:t>
            </a:r>
            <a:r>
              <a:rPr lang="es-ES" b="0" i="0" dirty="0">
                <a:effectLst/>
                <a:latin typeface="Google Sans"/>
              </a:rPr>
              <a:t>...”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05792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3A122-8B7B-805C-DD07-03A5E4AC7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rgbClr val="C00000"/>
                </a:solidFill>
              </a:rPr>
              <a:t>What if they try to trip me up?</a:t>
            </a:r>
            <a:br>
              <a:rPr lang="en-GB" dirty="0">
                <a:solidFill>
                  <a:srgbClr val="C00000"/>
                </a:solidFill>
              </a:rPr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72598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rPr lang="es-ES" dirty="0" err="1"/>
              <a:t>Conclusions</a:t>
            </a:r>
            <a:r>
              <a:rPr lang="es-ES" dirty="0"/>
              <a:t> and f</a:t>
            </a:r>
            <a:r>
              <a:rPr dirty="0" err="1"/>
              <a:t>inal</a:t>
            </a:r>
            <a:r>
              <a:rPr dirty="0"/>
              <a:t> advice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/>
            </a:pPr>
            <a:r>
              <a:rPr sz="2800" dirty="0"/>
              <a:t>Focus on the main message</a:t>
            </a:r>
          </a:p>
          <a:p>
            <a:pPr>
              <a:defRPr sz="2400"/>
            </a:pPr>
            <a:r>
              <a:rPr sz="2800" dirty="0"/>
              <a:t>Guide the audience through your talk</a:t>
            </a:r>
          </a:p>
          <a:p>
            <a:pPr>
              <a:defRPr sz="2400"/>
            </a:pPr>
            <a:r>
              <a:rPr sz="2800" dirty="0"/>
              <a:t>Keep slides simple</a:t>
            </a:r>
          </a:p>
          <a:p>
            <a:pPr>
              <a:defRPr sz="2400"/>
            </a:pPr>
            <a:r>
              <a:rPr sz="2800" dirty="0"/>
              <a:t>Clarity is more important than complexity</a:t>
            </a:r>
            <a:endParaRPr lang="es-ES" sz="2800" dirty="0"/>
          </a:p>
          <a:p>
            <a:pPr>
              <a:defRPr sz="2400"/>
            </a:pPr>
            <a:r>
              <a:rPr lang="es-ES" sz="2800" dirty="0"/>
              <a:t>Prepare, prepare, prepare!</a:t>
            </a:r>
            <a:endParaRPr sz="2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D8A690-AB79-CF46-2C83-B0CDDC9EF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863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A </a:t>
            </a:r>
            <a:r>
              <a:rPr lang="es-ES" sz="4000" dirty="0" err="1"/>
              <a:t>clear</a:t>
            </a:r>
            <a:r>
              <a:rPr lang="es-ES" sz="4000" dirty="0"/>
              <a:t> </a:t>
            </a:r>
            <a:r>
              <a:rPr lang="es-ES" sz="4000" dirty="0" err="1"/>
              <a:t>research</a:t>
            </a:r>
            <a:r>
              <a:rPr lang="es-ES" sz="4000" dirty="0"/>
              <a:t> </a:t>
            </a:r>
            <a:r>
              <a:rPr lang="es-ES" sz="4000" dirty="0" err="1"/>
              <a:t>presentation</a:t>
            </a:r>
            <a:r>
              <a:rPr lang="es-ES" sz="4000" dirty="0"/>
              <a:t> </a:t>
            </a:r>
            <a:r>
              <a:rPr lang="es-ES" sz="4000" dirty="0" err="1"/>
              <a:t>usually</a:t>
            </a:r>
            <a:r>
              <a:rPr lang="es-ES" sz="4000" dirty="0"/>
              <a:t> </a:t>
            </a:r>
            <a:r>
              <a:rPr lang="es-ES" sz="4000" dirty="0" err="1"/>
              <a:t>answers</a:t>
            </a:r>
            <a:r>
              <a:rPr lang="es-ES" sz="4000" dirty="0"/>
              <a:t> </a:t>
            </a:r>
            <a:r>
              <a:rPr lang="es-ES" sz="4000" dirty="0" err="1"/>
              <a:t>five</a:t>
            </a:r>
            <a:r>
              <a:rPr lang="es-ES" sz="4000" dirty="0"/>
              <a:t> </a:t>
            </a:r>
            <a:r>
              <a:rPr lang="es-ES" sz="4000" dirty="0" err="1"/>
              <a:t>questions</a:t>
            </a:r>
            <a:r>
              <a:rPr lang="es-ES" sz="4000" dirty="0"/>
              <a:t>:</a:t>
            </a:r>
            <a:br>
              <a:rPr lang="es-ES" dirty="0"/>
            </a:br>
            <a:endParaRPr lang="en-GB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125C0E-D546-0977-A043-2B277E88C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49305"/>
            <a:ext cx="8229600" cy="4525963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s-ES" sz="2800" dirty="0">
                <a:solidFill>
                  <a:srgbClr val="C00000"/>
                </a:solidFill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s-ES" sz="2800" dirty="0">
                <a:solidFill>
                  <a:srgbClr val="C00000"/>
                </a:solidFill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s-ES" sz="2800" dirty="0">
                <a:solidFill>
                  <a:srgbClr val="C00000"/>
                </a:solidFill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s-ES" sz="2800" dirty="0">
                <a:solidFill>
                  <a:srgbClr val="C00000"/>
                </a:solidFill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s-ES" sz="2800" dirty="0">
                <a:solidFill>
                  <a:srgbClr val="C00000"/>
                </a:solidFill>
              </a:rPr>
              <a:t> </a:t>
            </a:r>
            <a:br>
              <a:rPr lang="es-ES" sz="2800" dirty="0"/>
            </a:br>
            <a:endParaRPr lang="es-ES" sz="2800" dirty="0"/>
          </a:p>
          <a:p>
            <a:pPr marL="0" indent="0">
              <a:buNone/>
            </a:pPr>
            <a:r>
              <a:rPr lang="es-ES" sz="2800" dirty="0" err="1"/>
              <a:t>If</a:t>
            </a:r>
            <a:r>
              <a:rPr lang="es-ES" sz="2800" dirty="0"/>
              <a:t> </a:t>
            </a:r>
            <a:r>
              <a:rPr lang="es-ES" sz="2800" dirty="0" err="1"/>
              <a:t>the</a:t>
            </a:r>
            <a:r>
              <a:rPr lang="es-ES" sz="2800" dirty="0"/>
              <a:t> </a:t>
            </a:r>
            <a:r>
              <a:rPr lang="es-ES" sz="2800" dirty="0" err="1"/>
              <a:t>audience</a:t>
            </a:r>
            <a:r>
              <a:rPr lang="es-ES" sz="2800" dirty="0"/>
              <a:t> </a:t>
            </a:r>
            <a:r>
              <a:rPr lang="es-ES" sz="2800" dirty="0" err="1"/>
              <a:t>understands</a:t>
            </a:r>
            <a:r>
              <a:rPr lang="es-ES" sz="2800" dirty="0"/>
              <a:t> </a:t>
            </a:r>
            <a:r>
              <a:rPr lang="es-ES" sz="2800" dirty="0" err="1"/>
              <a:t>these</a:t>
            </a:r>
            <a:r>
              <a:rPr lang="es-ES" sz="2800" dirty="0"/>
              <a:t> </a:t>
            </a:r>
            <a:r>
              <a:rPr lang="es-ES" sz="2800" dirty="0" err="1"/>
              <a:t>five</a:t>
            </a:r>
            <a:r>
              <a:rPr lang="es-ES" sz="2800" dirty="0"/>
              <a:t> </a:t>
            </a:r>
            <a:r>
              <a:rPr lang="es-ES" sz="2800" dirty="0" err="1"/>
              <a:t>points</a:t>
            </a:r>
            <a:r>
              <a:rPr lang="es-ES" sz="2800" dirty="0"/>
              <a:t>,</a:t>
            </a:r>
          </a:p>
          <a:p>
            <a:pPr marL="0" indent="0">
              <a:buNone/>
            </a:pPr>
            <a:r>
              <a:rPr lang="es-ES" sz="2800" dirty="0" err="1"/>
              <a:t>your</a:t>
            </a:r>
            <a:r>
              <a:rPr lang="es-ES" sz="2800" dirty="0"/>
              <a:t> </a:t>
            </a:r>
            <a:r>
              <a:rPr lang="es-ES" sz="2800" dirty="0" err="1"/>
              <a:t>presentation</a:t>
            </a:r>
            <a:r>
              <a:rPr lang="es-ES" sz="2800" dirty="0"/>
              <a:t> has </a:t>
            </a:r>
            <a:r>
              <a:rPr lang="es-ES" sz="2800" dirty="0" err="1"/>
              <a:t>succeeded</a:t>
            </a:r>
            <a:r>
              <a:rPr lang="es-ES" sz="2800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54704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D8A690-AB79-CF46-2C83-B0CDDC9EF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863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A </a:t>
            </a:r>
            <a:r>
              <a:rPr lang="es-ES" sz="4000" dirty="0" err="1"/>
              <a:t>clear</a:t>
            </a:r>
            <a:r>
              <a:rPr lang="es-ES" sz="4000" dirty="0"/>
              <a:t> </a:t>
            </a:r>
            <a:r>
              <a:rPr lang="es-ES" sz="4000" dirty="0" err="1"/>
              <a:t>research</a:t>
            </a:r>
            <a:r>
              <a:rPr lang="es-ES" sz="4000" dirty="0"/>
              <a:t> </a:t>
            </a:r>
            <a:r>
              <a:rPr lang="es-ES" sz="4000" dirty="0" err="1"/>
              <a:t>presentation</a:t>
            </a:r>
            <a:r>
              <a:rPr lang="es-ES" sz="4000" dirty="0"/>
              <a:t> </a:t>
            </a:r>
            <a:r>
              <a:rPr lang="es-ES" sz="4000" dirty="0" err="1"/>
              <a:t>usually</a:t>
            </a:r>
            <a:r>
              <a:rPr lang="es-ES" sz="4000" dirty="0"/>
              <a:t> </a:t>
            </a:r>
            <a:r>
              <a:rPr lang="es-ES" sz="4000" dirty="0" err="1"/>
              <a:t>answers</a:t>
            </a:r>
            <a:r>
              <a:rPr lang="es-ES" sz="4000" dirty="0"/>
              <a:t> </a:t>
            </a:r>
            <a:r>
              <a:rPr lang="es-ES" sz="4000" dirty="0" err="1"/>
              <a:t>five</a:t>
            </a:r>
            <a:r>
              <a:rPr lang="es-ES" sz="4000" dirty="0"/>
              <a:t> </a:t>
            </a:r>
            <a:r>
              <a:rPr lang="es-ES" sz="4000" dirty="0" err="1"/>
              <a:t>questions</a:t>
            </a:r>
            <a:r>
              <a:rPr lang="es-ES" sz="4000" dirty="0"/>
              <a:t>:</a:t>
            </a:r>
            <a:br>
              <a:rPr lang="es-ES" dirty="0"/>
            </a:br>
            <a:endParaRPr lang="en-GB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125C0E-D546-0977-A043-2B277E88C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49305"/>
            <a:ext cx="8229600" cy="4525963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s-ES" sz="2800" dirty="0" err="1">
                <a:solidFill>
                  <a:srgbClr val="C00000"/>
                </a:solidFill>
              </a:rPr>
              <a:t>What</a:t>
            </a:r>
            <a:r>
              <a:rPr lang="es-ES" sz="2800" dirty="0">
                <a:solidFill>
                  <a:srgbClr val="C00000"/>
                </a:solidFill>
              </a:rPr>
              <a:t> </a:t>
            </a:r>
            <a:r>
              <a:rPr lang="es-ES" sz="2800" dirty="0" err="1">
                <a:solidFill>
                  <a:srgbClr val="C00000"/>
                </a:solidFill>
              </a:rPr>
              <a:t>is</a:t>
            </a:r>
            <a:r>
              <a:rPr lang="es-ES" sz="2800" dirty="0">
                <a:solidFill>
                  <a:srgbClr val="C00000"/>
                </a:solidFill>
              </a:rPr>
              <a:t> </a:t>
            </a:r>
            <a:r>
              <a:rPr lang="es-ES" sz="2800" dirty="0" err="1">
                <a:solidFill>
                  <a:srgbClr val="C00000"/>
                </a:solidFill>
              </a:rPr>
              <a:t>the</a:t>
            </a:r>
            <a:r>
              <a:rPr lang="es-ES" sz="2800" dirty="0">
                <a:solidFill>
                  <a:srgbClr val="C00000"/>
                </a:solidFill>
              </a:rPr>
              <a:t> </a:t>
            </a:r>
            <a:r>
              <a:rPr lang="es-ES" sz="2800" dirty="0" err="1">
                <a:solidFill>
                  <a:srgbClr val="C00000"/>
                </a:solidFill>
              </a:rPr>
              <a:t>problem</a:t>
            </a:r>
            <a:r>
              <a:rPr lang="es-ES" sz="2800" dirty="0">
                <a:solidFill>
                  <a:srgbClr val="C00000"/>
                </a:solidFill>
              </a:rPr>
              <a:t> </a:t>
            </a:r>
            <a:r>
              <a:rPr lang="es-ES" sz="2800" dirty="0" err="1">
                <a:solidFill>
                  <a:srgbClr val="C00000"/>
                </a:solidFill>
              </a:rPr>
              <a:t>or</a:t>
            </a:r>
            <a:r>
              <a:rPr lang="es-ES" sz="2800" dirty="0">
                <a:solidFill>
                  <a:srgbClr val="C00000"/>
                </a:solidFill>
              </a:rPr>
              <a:t> </a:t>
            </a:r>
            <a:r>
              <a:rPr lang="es-ES" sz="2800" dirty="0" err="1">
                <a:solidFill>
                  <a:srgbClr val="C00000"/>
                </a:solidFill>
              </a:rPr>
              <a:t>topic</a:t>
            </a:r>
            <a:r>
              <a:rPr lang="es-ES" sz="2800" dirty="0">
                <a:solidFill>
                  <a:srgbClr val="C00000"/>
                </a:solidFill>
              </a:rPr>
              <a:t>?</a:t>
            </a:r>
          </a:p>
          <a:p>
            <a:pPr>
              <a:buFont typeface="+mj-lt"/>
              <a:buAutoNum type="arabicPeriod"/>
            </a:pPr>
            <a:r>
              <a:rPr lang="es-ES" sz="2800" dirty="0" err="1">
                <a:solidFill>
                  <a:srgbClr val="C00000"/>
                </a:solidFill>
              </a:rPr>
              <a:t>Why</a:t>
            </a:r>
            <a:r>
              <a:rPr lang="es-ES" sz="2800" dirty="0">
                <a:solidFill>
                  <a:srgbClr val="C00000"/>
                </a:solidFill>
              </a:rPr>
              <a:t> </a:t>
            </a:r>
            <a:r>
              <a:rPr lang="es-ES" sz="2800" dirty="0" err="1">
                <a:solidFill>
                  <a:srgbClr val="C00000"/>
                </a:solidFill>
              </a:rPr>
              <a:t>is</a:t>
            </a:r>
            <a:r>
              <a:rPr lang="es-ES" sz="2800" dirty="0">
                <a:solidFill>
                  <a:srgbClr val="C00000"/>
                </a:solidFill>
              </a:rPr>
              <a:t> </a:t>
            </a:r>
            <a:r>
              <a:rPr lang="es-ES" sz="2800" dirty="0" err="1">
                <a:solidFill>
                  <a:srgbClr val="C00000"/>
                </a:solidFill>
              </a:rPr>
              <a:t>it</a:t>
            </a:r>
            <a:r>
              <a:rPr lang="es-ES" sz="2800" dirty="0">
                <a:solidFill>
                  <a:srgbClr val="C00000"/>
                </a:solidFill>
              </a:rPr>
              <a:t> </a:t>
            </a:r>
            <a:r>
              <a:rPr lang="es-ES" sz="2800" dirty="0" err="1">
                <a:solidFill>
                  <a:srgbClr val="C00000"/>
                </a:solidFill>
              </a:rPr>
              <a:t>important</a:t>
            </a:r>
            <a:r>
              <a:rPr lang="es-ES" sz="2800" dirty="0">
                <a:solidFill>
                  <a:srgbClr val="C00000"/>
                </a:solidFill>
              </a:rPr>
              <a:t>?</a:t>
            </a:r>
          </a:p>
          <a:p>
            <a:pPr>
              <a:buFont typeface="+mj-lt"/>
              <a:buAutoNum type="arabicPeriod"/>
            </a:pPr>
            <a:r>
              <a:rPr lang="es-ES" sz="2800" dirty="0" err="1">
                <a:solidFill>
                  <a:srgbClr val="C00000"/>
                </a:solidFill>
              </a:rPr>
              <a:t>What</a:t>
            </a:r>
            <a:r>
              <a:rPr lang="es-ES" sz="2800" dirty="0">
                <a:solidFill>
                  <a:srgbClr val="C00000"/>
                </a:solidFill>
              </a:rPr>
              <a:t> </a:t>
            </a:r>
            <a:r>
              <a:rPr lang="es-ES" sz="2800" dirty="0" err="1">
                <a:solidFill>
                  <a:srgbClr val="C00000"/>
                </a:solidFill>
              </a:rPr>
              <a:t>did</a:t>
            </a:r>
            <a:r>
              <a:rPr lang="es-ES" sz="2800" dirty="0">
                <a:solidFill>
                  <a:srgbClr val="C00000"/>
                </a:solidFill>
              </a:rPr>
              <a:t> </a:t>
            </a:r>
            <a:r>
              <a:rPr lang="es-ES" sz="2800" dirty="0" err="1">
                <a:solidFill>
                  <a:srgbClr val="C00000"/>
                </a:solidFill>
              </a:rPr>
              <a:t>you</a:t>
            </a:r>
            <a:r>
              <a:rPr lang="es-ES" sz="2800" dirty="0">
                <a:solidFill>
                  <a:srgbClr val="C00000"/>
                </a:solidFill>
              </a:rPr>
              <a:t> do?</a:t>
            </a:r>
          </a:p>
          <a:p>
            <a:pPr>
              <a:buFont typeface="+mj-lt"/>
              <a:buAutoNum type="arabicPeriod"/>
            </a:pPr>
            <a:r>
              <a:rPr lang="es-ES" sz="2800" dirty="0" err="1">
                <a:solidFill>
                  <a:srgbClr val="C00000"/>
                </a:solidFill>
              </a:rPr>
              <a:t>What</a:t>
            </a:r>
            <a:r>
              <a:rPr lang="es-ES" sz="2800" dirty="0">
                <a:solidFill>
                  <a:srgbClr val="C00000"/>
                </a:solidFill>
              </a:rPr>
              <a:t> </a:t>
            </a:r>
            <a:r>
              <a:rPr lang="es-ES" sz="2800" dirty="0" err="1">
                <a:solidFill>
                  <a:srgbClr val="C00000"/>
                </a:solidFill>
              </a:rPr>
              <a:t>did</a:t>
            </a:r>
            <a:r>
              <a:rPr lang="es-ES" sz="2800" dirty="0">
                <a:solidFill>
                  <a:srgbClr val="C00000"/>
                </a:solidFill>
              </a:rPr>
              <a:t> </a:t>
            </a:r>
            <a:r>
              <a:rPr lang="es-ES" sz="2800" dirty="0" err="1">
                <a:solidFill>
                  <a:srgbClr val="C00000"/>
                </a:solidFill>
              </a:rPr>
              <a:t>you</a:t>
            </a:r>
            <a:r>
              <a:rPr lang="es-ES" sz="2800" dirty="0">
                <a:solidFill>
                  <a:srgbClr val="C00000"/>
                </a:solidFill>
              </a:rPr>
              <a:t> </a:t>
            </a:r>
            <a:r>
              <a:rPr lang="es-ES" sz="2800" dirty="0" err="1">
                <a:solidFill>
                  <a:srgbClr val="C00000"/>
                </a:solidFill>
              </a:rPr>
              <a:t>find</a:t>
            </a:r>
            <a:r>
              <a:rPr lang="es-ES" sz="2800" dirty="0">
                <a:solidFill>
                  <a:srgbClr val="C00000"/>
                </a:solidFill>
              </a:rPr>
              <a:t>?</a:t>
            </a:r>
          </a:p>
          <a:p>
            <a:pPr>
              <a:buFont typeface="+mj-lt"/>
              <a:buAutoNum type="arabicPeriod"/>
            </a:pPr>
            <a:r>
              <a:rPr lang="es-ES" sz="2800" dirty="0" err="1">
                <a:solidFill>
                  <a:srgbClr val="C00000"/>
                </a:solidFill>
              </a:rPr>
              <a:t>Why</a:t>
            </a:r>
            <a:r>
              <a:rPr lang="es-ES" sz="2800" dirty="0">
                <a:solidFill>
                  <a:srgbClr val="C00000"/>
                </a:solidFill>
              </a:rPr>
              <a:t> do </a:t>
            </a:r>
            <a:r>
              <a:rPr lang="es-ES" sz="2800" dirty="0" err="1">
                <a:solidFill>
                  <a:srgbClr val="C00000"/>
                </a:solidFill>
              </a:rPr>
              <a:t>the</a:t>
            </a:r>
            <a:r>
              <a:rPr lang="es-ES" sz="2800" dirty="0">
                <a:solidFill>
                  <a:srgbClr val="C00000"/>
                </a:solidFill>
              </a:rPr>
              <a:t> </a:t>
            </a:r>
            <a:r>
              <a:rPr lang="es-ES" sz="2800" dirty="0" err="1">
                <a:solidFill>
                  <a:srgbClr val="C00000"/>
                </a:solidFill>
              </a:rPr>
              <a:t>findings</a:t>
            </a:r>
            <a:r>
              <a:rPr lang="es-ES" sz="2800" dirty="0">
                <a:solidFill>
                  <a:srgbClr val="C00000"/>
                </a:solidFill>
              </a:rPr>
              <a:t> </a:t>
            </a:r>
            <a:r>
              <a:rPr lang="es-ES" sz="2800" dirty="0" err="1">
                <a:solidFill>
                  <a:srgbClr val="C00000"/>
                </a:solidFill>
              </a:rPr>
              <a:t>matter</a:t>
            </a:r>
            <a:r>
              <a:rPr lang="es-ES" sz="2800" dirty="0">
                <a:solidFill>
                  <a:srgbClr val="C00000"/>
                </a:solidFill>
              </a:rPr>
              <a:t>?</a:t>
            </a:r>
            <a:br>
              <a:rPr lang="es-ES" sz="2800" dirty="0"/>
            </a:br>
            <a:endParaRPr lang="es-ES" sz="2800" dirty="0"/>
          </a:p>
          <a:p>
            <a:pPr marL="0" indent="0">
              <a:buNone/>
            </a:pPr>
            <a:r>
              <a:rPr lang="es-ES" sz="2800" dirty="0" err="1"/>
              <a:t>If</a:t>
            </a:r>
            <a:r>
              <a:rPr lang="es-ES" sz="2800" dirty="0"/>
              <a:t> </a:t>
            </a:r>
            <a:r>
              <a:rPr lang="es-ES" sz="2800" dirty="0" err="1"/>
              <a:t>the</a:t>
            </a:r>
            <a:r>
              <a:rPr lang="es-ES" sz="2800" dirty="0"/>
              <a:t> </a:t>
            </a:r>
            <a:r>
              <a:rPr lang="es-ES" sz="2800" dirty="0" err="1"/>
              <a:t>audience</a:t>
            </a:r>
            <a:r>
              <a:rPr lang="es-ES" sz="2800" dirty="0"/>
              <a:t> </a:t>
            </a:r>
            <a:r>
              <a:rPr lang="es-ES" sz="2800" dirty="0" err="1"/>
              <a:t>understands</a:t>
            </a:r>
            <a:r>
              <a:rPr lang="es-ES" sz="2800" dirty="0"/>
              <a:t> </a:t>
            </a:r>
            <a:r>
              <a:rPr lang="es-ES" sz="2800" dirty="0" err="1"/>
              <a:t>these</a:t>
            </a:r>
            <a:r>
              <a:rPr lang="es-ES" sz="2800" dirty="0"/>
              <a:t> </a:t>
            </a:r>
            <a:r>
              <a:rPr lang="es-ES" sz="2800" dirty="0" err="1"/>
              <a:t>five</a:t>
            </a:r>
            <a:r>
              <a:rPr lang="es-ES" sz="2800" dirty="0"/>
              <a:t> </a:t>
            </a:r>
            <a:r>
              <a:rPr lang="es-ES" sz="2800" dirty="0" err="1"/>
              <a:t>points</a:t>
            </a:r>
            <a:r>
              <a:rPr lang="es-ES" sz="2800" dirty="0"/>
              <a:t>,</a:t>
            </a:r>
          </a:p>
          <a:p>
            <a:pPr marL="0" indent="0">
              <a:buNone/>
            </a:pPr>
            <a:r>
              <a:rPr lang="es-ES" sz="2800" dirty="0" err="1"/>
              <a:t>your</a:t>
            </a:r>
            <a:r>
              <a:rPr lang="es-ES" sz="2800" dirty="0"/>
              <a:t> </a:t>
            </a:r>
            <a:r>
              <a:rPr lang="es-ES" sz="2800" dirty="0" err="1"/>
              <a:t>presentation</a:t>
            </a:r>
            <a:r>
              <a:rPr lang="es-ES" sz="2800" dirty="0"/>
              <a:t> has </a:t>
            </a:r>
            <a:r>
              <a:rPr lang="es-ES" sz="2800" dirty="0" err="1"/>
              <a:t>succeeded</a:t>
            </a:r>
            <a:r>
              <a:rPr lang="es-ES" sz="2800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7612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2980</TotalTime>
  <Words>1173</Words>
  <Application>Microsoft Macintosh PowerPoint</Application>
  <PresentationFormat>Presentación en pantalla (4:3)</PresentationFormat>
  <Paragraphs>230</Paragraphs>
  <Slides>37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1" baseType="lpstr">
      <vt:lpstr>Arial</vt:lpstr>
      <vt:lpstr>Calibri</vt:lpstr>
      <vt:lpstr>Google Sans</vt:lpstr>
      <vt:lpstr>Office Theme</vt:lpstr>
      <vt:lpstr> Tips for creating a successful presentation in English </vt:lpstr>
      <vt:lpstr>A clear research presentation usually answers five questions: </vt:lpstr>
      <vt:lpstr>Outline</vt:lpstr>
      <vt:lpstr>Quick question</vt:lpstr>
      <vt:lpstr>Why presentations matter</vt:lpstr>
      <vt:lpstr>Three elements of a good presentation</vt:lpstr>
      <vt:lpstr>Audience</vt:lpstr>
      <vt:lpstr>Presentación de PowerPoint</vt:lpstr>
      <vt:lpstr>Presentación de PowerPoint</vt:lpstr>
      <vt:lpstr>A presentation is NOT a paper</vt:lpstr>
      <vt:lpstr>I. Structure</vt:lpstr>
      <vt:lpstr>Basic structure</vt:lpstr>
      <vt:lpstr>The 20‑minute conference rule</vt:lpstr>
      <vt:lpstr>Designing effective slides</vt:lpstr>
      <vt:lpstr>Example of an overloaded slide</vt:lpstr>
      <vt:lpstr>Presentación de PowerPoint</vt:lpstr>
      <vt:lpstr>Better slide design</vt:lpstr>
      <vt:lpstr>II. Language</vt:lpstr>
      <vt:lpstr>Signposting</vt:lpstr>
      <vt:lpstr>Bad vs Good Opening</vt:lpstr>
      <vt:lpstr>Written vs spoken academic language</vt:lpstr>
      <vt:lpstr>Explaining research to non-specialists </vt:lpstr>
      <vt:lpstr>Presentación de PowerPoint</vt:lpstr>
      <vt:lpstr>Exercise</vt:lpstr>
      <vt:lpstr>III. Delivery</vt:lpstr>
      <vt:lpstr>Starting a presentation</vt:lpstr>
      <vt:lpstr>Starting a presentation</vt:lpstr>
      <vt:lpstr>Delivery</vt:lpstr>
      <vt:lpstr>Typical mistakes speakers make</vt:lpstr>
      <vt:lpstr>What about the feared questions?</vt:lpstr>
      <vt:lpstr>Presentación de PowerPoint</vt:lpstr>
      <vt:lpstr>What if I don’t understand the question? </vt:lpstr>
      <vt:lpstr>What if I just don’t know the answer? </vt:lpstr>
      <vt:lpstr>What if they try to trip me up? </vt:lpstr>
      <vt:lpstr>Conclusions and final advice</vt:lpstr>
      <vt:lpstr>A clear research presentation usually answers five questions: </vt:lpstr>
      <vt:lpstr>A clear research presentation usually answers five questions: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Tips for creating a successful presentation in English </dc:title>
  <dc:subject/>
  <dc:creator/>
  <cp:keywords/>
  <dc:description>generated using python-pptx</dc:description>
  <cp:lastModifiedBy>Microsoft Office User</cp:lastModifiedBy>
  <cp:revision>9</cp:revision>
  <dcterms:created xsi:type="dcterms:W3CDTF">2013-01-27T09:14:16Z</dcterms:created>
  <dcterms:modified xsi:type="dcterms:W3CDTF">2026-04-16T08:58:27Z</dcterms:modified>
  <cp:category/>
</cp:coreProperties>
</file>